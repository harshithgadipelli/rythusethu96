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3" r:id="rId2"/>
    <p:sldId id="267" r:id="rId3"/>
    <p:sldId id="272" r:id="rId4"/>
    <p:sldId id="282" r:id="rId5"/>
    <p:sldId id="274" r:id="rId6"/>
    <p:sldId id="275" r:id="rId7"/>
    <p:sldId id="276" r:id="rId8"/>
    <p:sldId id="306" r:id="rId9"/>
    <p:sldId id="277" r:id="rId10"/>
    <p:sldId id="278" r:id="rId11"/>
    <p:sldId id="288" r:id="rId12"/>
    <p:sldId id="297" r:id="rId13"/>
    <p:sldId id="285" r:id="rId14"/>
    <p:sldId id="294" r:id="rId15"/>
    <p:sldId id="295" r:id="rId16"/>
    <p:sldId id="296" r:id="rId17"/>
    <p:sldId id="299" r:id="rId18"/>
    <p:sldId id="300" r:id="rId19"/>
    <p:sldId id="307" r:id="rId20"/>
    <p:sldId id="308" r:id="rId21"/>
    <p:sldId id="309" r:id="rId22"/>
    <p:sldId id="310" r:id="rId23"/>
    <p:sldId id="311" r:id="rId24"/>
    <p:sldId id="312" r:id="rId25"/>
    <p:sldId id="293" r:id="rId26"/>
    <p:sldId id="279" r:id="rId27"/>
    <p:sldId id="273" r:id="rId28"/>
    <p:sldId id="284" r:id="rId29"/>
    <p:sldId id="30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51405"/>
    <a:srgbClr val="07611A"/>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35" autoAdjust="0"/>
    <p:restoredTop sz="94660"/>
  </p:normalViewPr>
  <p:slideViewPr>
    <p:cSldViewPr>
      <p:cViewPr>
        <p:scale>
          <a:sx n="75" d="100"/>
          <a:sy n="75" d="100"/>
        </p:scale>
        <p:origin x="616" y="-3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DED31FB-C7D3-427D-BE8B-CEFB25E86AFB}"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882307247"/>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ED31FB-C7D3-427D-BE8B-CEFB25E86AFB}"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250954302"/>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ED31FB-C7D3-427D-BE8B-CEFB25E86AFB}"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356645652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DED31FB-C7D3-427D-BE8B-CEFB25E86AFB}"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1199005600"/>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DED31FB-C7D3-427D-BE8B-CEFB25E86AFB}" type="datetimeFigureOut">
              <a:rPr lang="en-IN" smtClean="0"/>
              <a:t>24-06-2026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685991511"/>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DED31FB-C7D3-427D-BE8B-CEFB25E86AFB}" type="datetimeFigureOut">
              <a:rPr lang="en-IN" smtClean="0"/>
              <a:t>24-06-2026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2456086541"/>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ED31FB-C7D3-427D-BE8B-CEFB25E86AFB}" type="datetimeFigureOut">
              <a:rPr lang="en-IN" smtClean="0"/>
              <a:t>24-06-2026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404788958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ED31FB-C7D3-427D-BE8B-CEFB25E86AFB}"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1277043595"/>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ED31FB-C7D3-427D-BE8B-CEFB25E86AFB}" type="datetimeFigureOut">
              <a:rPr lang="en-IN" smtClean="0"/>
              <a:t>24-06-2026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4031715120"/>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ED31FB-C7D3-427D-BE8B-CEFB25E86AFB}"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1563289173"/>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DED31FB-C7D3-427D-BE8B-CEFB25E86AFB}" type="datetimeFigureOut">
              <a:rPr lang="en-IN" smtClean="0"/>
              <a:t>24-06-2026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C5C88D8-D67F-4A69-8E79-8550CC2D9735}" type="slidenum">
              <a:rPr lang="en-IN" smtClean="0"/>
              <a:t>‹#›</a:t>
            </a:fld>
            <a:endParaRPr lang="en-IN"/>
          </a:p>
        </p:txBody>
      </p:sp>
    </p:spTree>
    <p:extLst>
      <p:ext uri="{BB962C8B-B14F-4D97-AF65-F5344CB8AC3E}">
        <p14:creationId xmlns:p14="http://schemas.microsoft.com/office/powerpoint/2010/main" val="2738182817"/>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07000" b="-10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ED31FB-C7D3-427D-BE8B-CEFB25E86AFB}" type="datetimeFigureOut">
              <a:rPr lang="en-IN" smtClean="0"/>
              <a:t>24-06-2026</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5C88D8-D67F-4A69-8E79-8550CC2D9735}" type="slidenum">
              <a:rPr lang="en-IN" smtClean="0"/>
              <a:t>‹#›</a:t>
            </a:fld>
            <a:endParaRPr lang="en-IN"/>
          </a:p>
        </p:txBody>
      </p:sp>
    </p:spTree>
    <p:extLst>
      <p:ext uri="{BB962C8B-B14F-4D97-AF65-F5344CB8AC3E}">
        <p14:creationId xmlns:p14="http://schemas.microsoft.com/office/powerpoint/2010/main" val="2644228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hyperlink" Target="%20https:/doi.org/10.55041/IJSREM28019" TargetMode="External"/><Relationship Id="rId7" Type="http://schemas.openxmlformats.org/officeDocument/2006/relationships/hyperlink" Target="%20https:/ieeexplore.ieee.org/document/7951740" TargetMode="Externa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hyperlink" Target="https://www.jmlr.org/papers/v13/biau12a.html" TargetMode="External"/><Relationship Id="rId5" Type="http://schemas.openxmlformats.org/officeDocument/2006/relationships/hyperlink" Target="https://link.springer.com/article/10.1007/s43621-025-01306-6" TargetMode="External"/><Relationship Id="rId4" Type="http://schemas.openxmlformats.org/officeDocument/2006/relationships/hyperlink" Target="%20https:/www.mdpi.com/2073-4395/13/5/1200"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674800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3F1E712-6056-D447-6A89-D8CB350B5B7A}"/>
              </a:ext>
            </a:extLst>
          </p:cNvPr>
          <p:cNvSpPr txBox="1"/>
          <p:nvPr/>
        </p:nvSpPr>
        <p:spPr>
          <a:xfrm>
            <a:off x="3024926" y="3075056"/>
            <a:ext cx="8097195" cy="415498"/>
          </a:xfrm>
          <a:prstGeom prst="rect">
            <a:avLst/>
          </a:prstGeom>
          <a:noFill/>
        </p:spPr>
        <p:txBody>
          <a:bodyPr wrap="square" rtlCol="0">
            <a:spAutoFit/>
          </a:bodyPr>
          <a:lstStyle/>
          <a:p>
            <a:pPr algn="l"/>
            <a:r>
              <a:rPr lang="en-IN" sz="2000" dirty="0" err="1">
                <a:solidFill>
                  <a:schemeClr val="bg1"/>
                </a:solidFill>
                <a:latin typeface="Algerian" panose="04020705040A02060702" pitchFamily="82" charset="77"/>
              </a:rPr>
              <a:t>Rythu</a:t>
            </a:r>
            <a:r>
              <a:rPr lang="en-IN" sz="2000" dirty="0">
                <a:solidFill>
                  <a:schemeClr val="bg1"/>
                </a:solidFill>
                <a:latin typeface="Algerian" panose="04020705040A02060702" pitchFamily="82" charset="77"/>
              </a:rPr>
              <a:t> Sethu – A bridge between farmer and customer </a:t>
            </a:r>
            <a:endParaRPr lang="en-US" sz="2000" dirty="0">
              <a:solidFill>
                <a:schemeClr val="bg1"/>
              </a:solidFill>
              <a:latin typeface="Algerian" panose="04020705040A02060702" pitchFamily="82" charset="77"/>
            </a:endParaRPr>
          </a:p>
        </p:txBody>
      </p:sp>
      <p:sp>
        <p:nvSpPr>
          <p:cNvPr id="8" name="TextBox 7">
            <a:extLst>
              <a:ext uri="{FF2B5EF4-FFF2-40B4-BE49-F238E27FC236}">
                <a16:creationId xmlns:a16="http://schemas.microsoft.com/office/drawing/2014/main" id="{5B8CA48F-5D6F-B0E9-B0F3-16708457C228}"/>
              </a:ext>
            </a:extLst>
          </p:cNvPr>
          <p:cNvSpPr txBox="1"/>
          <p:nvPr/>
        </p:nvSpPr>
        <p:spPr>
          <a:xfrm>
            <a:off x="4715300" y="2484083"/>
            <a:ext cx="4765398" cy="384721"/>
          </a:xfrm>
          <a:prstGeom prst="rect">
            <a:avLst/>
          </a:prstGeom>
          <a:noFill/>
        </p:spPr>
        <p:txBody>
          <a:bodyPr wrap="square" rtlCol="0">
            <a:spAutoFit/>
          </a:bodyPr>
          <a:lstStyle/>
          <a:p>
            <a:pPr algn="l"/>
            <a:r>
              <a:rPr lang="en-IN" sz="1900" b="1" i="1" dirty="0">
                <a:solidFill>
                  <a:schemeClr val="bg1"/>
                </a:solidFill>
                <a:latin typeface="Algerian" pitchFamily="82" charset="77"/>
              </a:rPr>
              <a:t>Mini project-2  Batch A19</a:t>
            </a:r>
            <a:endParaRPr lang="en-US" sz="1900" b="1" i="1" dirty="0">
              <a:solidFill>
                <a:schemeClr val="bg1"/>
              </a:solidFill>
              <a:latin typeface="Algerian" pitchFamily="82" charset="77"/>
            </a:endParaRPr>
          </a:p>
        </p:txBody>
      </p:sp>
    </p:spTree>
    <p:extLst>
      <p:ext uri="{BB962C8B-B14F-4D97-AF65-F5344CB8AC3E}">
        <p14:creationId xmlns:p14="http://schemas.microsoft.com/office/powerpoint/2010/main" val="66986963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D26D8BA-FB42-9894-46E4-A3FEF0CC779E}"/>
              </a:ext>
            </a:extLst>
          </p:cNvPr>
          <p:cNvSpPr txBox="1"/>
          <p:nvPr/>
        </p:nvSpPr>
        <p:spPr>
          <a:xfrm>
            <a:off x="1979066" y="903806"/>
            <a:ext cx="9577064" cy="707886"/>
          </a:xfrm>
          <a:prstGeom prst="rect">
            <a:avLst/>
          </a:prstGeom>
          <a:noFill/>
        </p:spPr>
        <p:txBody>
          <a:bodyPr wrap="square">
            <a:spAutoFit/>
          </a:bodyPr>
          <a:lstStyle/>
          <a:p>
            <a:pPr algn="ctr"/>
            <a:r>
              <a:rPr lang="en-US" sz="2000" b="1" i="1" dirty="0">
                <a:solidFill>
                  <a:schemeClr val="bg1"/>
                </a:solidFill>
                <a:latin typeface="Times New Roman" pitchFamily="18" charset="0"/>
                <a:cs typeface="Times New Roman" pitchFamily="18" charset="0"/>
              </a:rPr>
              <a:t>MATURI VENKATA SUBBA RAO ENGINEERING COLLEGE</a:t>
            </a:r>
          </a:p>
          <a:p>
            <a:pPr algn="ctr"/>
            <a:r>
              <a:rPr lang="en-US" sz="2000" b="1" i="1" dirty="0">
                <a:solidFill>
                  <a:schemeClr val="bg1"/>
                </a:solidFill>
                <a:latin typeface="Times New Roman" pitchFamily="18" charset="0"/>
                <a:cs typeface="Times New Roman" pitchFamily="18" charset="0"/>
              </a:rPr>
              <a:t>NADERGUL , HYDERABAD</a:t>
            </a:r>
          </a:p>
        </p:txBody>
      </p:sp>
      <p:sp>
        <p:nvSpPr>
          <p:cNvPr id="17" name="TextBox 16">
            <a:extLst>
              <a:ext uri="{FF2B5EF4-FFF2-40B4-BE49-F238E27FC236}">
                <a16:creationId xmlns:a16="http://schemas.microsoft.com/office/drawing/2014/main" id="{7073454B-36EB-CE21-A202-157B5E650035}"/>
              </a:ext>
            </a:extLst>
          </p:cNvPr>
          <p:cNvSpPr txBox="1"/>
          <p:nvPr/>
        </p:nvSpPr>
        <p:spPr>
          <a:xfrm>
            <a:off x="4160168" y="1598847"/>
            <a:ext cx="6097604" cy="338554"/>
          </a:xfrm>
          <a:prstGeom prst="rect">
            <a:avLst/>
          </a:prstGeom>
          <a:noFill/>
        </p:spPr>
        <p:txBody>
          <a:bodyPr wrap="square">
            <a:spAutoFit/>
          </a:bodyPr>
          <a:lstStyle/>
          <a:p>
            <a:r>
              <a:rPr lang="en-US" sz="1600" dirty="0">
                <a:solidFill>
                  <a:schemeClr val="bg1"/>
                </a:solidFill>
                <a:latin typeface="Times New Roman" pitchFamily="18" charset="0"/>
                <a:cs typeface="Times New Roman" pitchFamily="18" charset="0"/>
              </a:rPr>
              <a:t>DEPARTMENT OF INFORMATION TECHNOLOGY</a:t>
            </a:r>
            <a:endParaRPr lang="en-IN" sz="1600" dirty="0">
              <a:solidFill>
                <a:schemeClr val="bg1"/>
              </a:solidFill>
            </a:endParaRPr>
          </a:p>
        </p:txBody>
      </p:sp>
      <p:sp>
        <p:nvSpPr>
          <p:cNvPr id="19" name="TextBox 18">
            <a:extLst>
              <a:ext uri="{FF2B5EF4-FFF2-40B4-BE49-F238E27FC236}">
                <a16:creationId xmlns:a16="http://schemas.microsoft.com/office/drawing/2014/main" id="{34CD88DC-998F-2A01-D207-7C405AF18448}"/>
              </a:ext>
            </a:extLst>
          </p:cNvPr>
          <p:cNvSpPr txBox="1"/>
          <p:nvPr/>
        </p:nvSpPr>
        <p:spPr>
          <a:xfrm>
            <a:off x="1092286" y="2197015"/>
            <a:ext cx="8496944" cy="261610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u="sng" dirty="0">
                <a:solidFill>
                  <a:schemeClr val="accent6"/>
                </a:solidFill>
                <a:latin typeface="Times New Roman" pitchFamily="18" charset="0"/>
                <a:cs typeface="Times New Roman" pitchFamily="18" charset="0"/>
              </a:rPr>
              <a:t>Title</a:t>
            </a:r>
            <a:r>
              <a:rPr lang="en-US" sz="2000" b="1" dirty="0">
                <a:solidFill>
                  <a:schemeClr val="accent6"/>
                </a:solidFill>
                <a:latin typeface="Times New Roman" pitchFamily="18" charset="0"/>
                <a:cs typeface="Times New Roman" pitchFamily="18" charset="0"/>
              </a:rPr>
              <a:t>:</a:t>
            </a:r>
            <a:r>
              <a:rPr lang="en-US" sz="2000" dirty="0">
                <a:solidFill>
                  <a:schemeClr val="accent6"/>
                </a:solidFill>
                <a:latin typeface="Times New Roman" pitchFamily="18" charset="0"/>
                <a:cs typeface="Times New Roman" pitchFamily="18" charset="0"/>
              </a:rPr>
              <a:t> </a:t>
            </a:r>
            <a:r>
              <a:rPr lang="en-US" sz="2000" dirty="0">
                <a:solidFill>
                  <a:schemeClr val="bg1"/>
                </a:solidFill>
                <a:latin typeface="Times New Roman" pitchFamily="18" charset="0"/>
                <a:cs typeface="Times New Roman" pitchFamily="18" charset="0"/>
              </a:rPr>
              <a:t> </a:t>
            </a:r>
            <a:r>
              <a:rPr lang="en-US" sz="2000" b="1" dirty="0" err="1">
                <a:solidFill>
                  <a:schemeClr val="bg1"/>
                </a:solidFill>
                <a:latin typeface="Times New Roman" pitchFamily="18" charset="0"/>
                <a:cs typeface="Times New Roman" pitchFamily="18" charset="0"/>
              </a:rPr>
              <a:t>RythuSethu</a:t>
            </a:r>
            <a:r>
              <a:rPr lang="en-US" sz="2000" dirty="0">
                <a:solidFill>
                  <a:schemeClr val="bg1"/>
                </a:solidFill>
                <a:latin typeface="Times New Roman" pitchFamily="18" charset="0"/>
                <a:cs typeface="Times New Roman" pitchFamily="18" charset="0"/>
              </a:rPr>
              <a:t> -  A bridge between farmer and customer</a:t>
            </a:r>
            <a:endParaRPr lang="en-US" sz="1600" dirty="0">
              <a:solidFill>
                <a:schemeClr val="bg1"/>
              </a:solidFill>
              <a:latin typeface="Times New Roman" pitchFamily="18" charset="0"/>
              <a:cs typeface="Times New Roman" pitchFamily="18" charset="0"/>
            </a:endParaRPr>
          </a:p>
          <a:p>
            <a:pPr algn="ctr"/>
            <a:endParaRPr lang="en-US" i="1" dirty="0">
              <a:solidFill>
                <a:schemeClr val="bg1"/>
              </a:solidFill>
              <a:latin typeface="Times New Roman" pitchFamily="18" charset="0"/>
              <a:cs typeface="Times New Roman" pitchFamily="18" charset="0"/>
            </a:endParaRPr>
          </a:p>
          <a:p>
            <a:pPr algn="ctr"/>
            <a:r>
              <a:rPr lang="en-US" b="1" dirty="0">
                <a:solidFill>
                  <a:schemeClr val="bg1"/>
                </a:solidFill>
                <a:latin typeface="Times New Roman" pitchFamily="18" charset="0"/>
                <a:cs typeface="Times New Roman" pitchFamily="18" charset="0"/>
              </a:rPr>
              <a:t>Batch: A19</a:t>
            </a:r>
            <a:endParaRPr lang="en-US" sz="2000" b="1" dirty="0">
              <a:solidFill>
                <a:schemeClr val="bg1"/>
              </a:solidFill>
              <a:latin typeface="Times New Roman" pitchFamily="18" charset="0"/>
              <a:cs typeface="Times New Roman" pitchFamily="18" charset="0"/>
            </a:endParaRPr>
          </a:p>
          <a:p>
            <a:r>
              <a:rPr lang="en-US" b="1" dirty="0">
                <a:solidFill>
                  <a:schemeClr val="bg1"/>
                </a:solidFill>
                <a:latin typeface="Times New Roman" pitchFamily="18" charset="0"/>
                <a:cs typeface="Times New Roman" pitchFamily="18" charset="0"/>
              </a:rPr>
              <a:t>	</a:t>
            </a:r>
            <a:r>
              <a:rPr lang="en-US" b="1" u="sng" dirty="0">
                <a:solidFill>
                  <a:schemeClr val="accent6"/>
                </a:solidFill>
                <a:latin typeface="Times New Roman" pitchFamily="18" charset="0"/>
                <a:cs typeface="Times New Roman" pitchFamily="18" charset="0"/>
              </a:rPr>
              <a:t>Team </a:t>
            </a:r>
            <a:r>
              <a:rPr lang="en-IN" b="1" u="sng" dirty="0">
                <a:solidFill>
                  <a:schemeClr val="accent6"/>
                </a:solidFill>
                <a:latin typeface="Times New Roman" pitchFamily="18" charset="0"/>
                <a:cs typeface="Times New Roman" pitchFamily="18" charset="0"/>
              </a:rPr>
              <a:t>Members </a:t>
            </a:r>
            <a:r>
              <a:rPr lang="en-US" b="1" u="sng" dirty="0">
                <a:solidFill>
                  <a:schemeClr val="accent6"/>
                </a:solidFill>
                <a:latin typeface="Times New Roman" pitchFamily="18" charset="0"/>
                <a:cs typeface="Times New Roman" pitchFamily="18" charset="0"/>
              </a:rPr>
              <a:t>:</a:t>
            </a:r>
            <a:endParaRPr lang="en-US" sz="1400" b="1" u="sng" dirty="0">
              <a:solidFill>
                <a:schemeClr val="accent6"/>
              </a:solidFill>
              <a:latin typeface="Times New Roman" pitchFamily="18" charset="0"/>
              <a:cs typeface="Times New Roman" pitchFamily="18" charset="0"/>
            </a:endParaRPr>
          </a:p>
          <a:p>
            <a:pPr algn="ctr"/>
            <a:r>
              <a:rPr lang="en-IN" b="1" dirty="0">
                <a:solidFill>
                  <a:schemeClr val="bg1"/>
                </a:solidFill>
                <a:latin typeface="Times New Roman" pitchFamily="18" charset="0"/>
                <a:cs typeface="Times New Roman" pitchFamily="18" charset="0"/>
              </a:rPr>
              <a:t> </a:t>
            </a:r>
            <a:r>
              <a:rPr lang="en-US" b="1" dirty="0">
                <a:solidFill>
                  <a:schemeClr val="bg1"/>
                </a:solidFill>
                <a:latin typeface="Times New Roman" pitchFamily="18" charset="0"/>
                <a:cs typeface="Times New Roman" pitchFamily="18" charset="0"/>
              </a:rPr>
              <a:t>K. Charan 	 2451-23-737-001</a:t>
            </a:r>
          </a:p>
          <a:p>
            <a:pPr algn="ctr"/>
            <a:r>
              <a:rPr lang="en-IN" b="1" dirty="0">
                <a:solidFill>
                  <a:schemeClr val="bg1"/>
                </a:solidFill>
                <a:latin typeface="Times New Roman" pitchFamily="18" charset="0"/>
                <a:cs typeface="Times New Roman" pitchFamily="18" charset="0"/>
              </a:rPr>
              <a:t> </a:t>
            </a:r>
            <a:r>
              <a:rPr lang="en-US" b="1" dirty="0">
                <a:solidFill>
                  <a:schemeClr val="bg1"/>
                </a:solidFill>
                <a:latin typeface="Times New Roman" pitchFamily="18" charset="0"/>
                <a:cs typeface="Times New Roman" pitchFamily="18" charset="0"/>
              </a:rPr>
              <a:t>G. Harshith	 2451-23-737-041</a:t>
            </a:r>
          </a:p>
          <a:p>
            <a:pPr algn="ctr"/>
            <a:r>
              <a:rPr lang="en-IN" b="1" dirty="0">
                <a:solidFill>
                  <a:schemeClr val="bg1"/>
                </a:solidFill>
                <a:latin typeface="Times New Roman" pitchFamily="18" charset="0"/>
                <a:cs typeface="Times New Roman" pitchFamily="18" charset="0"/>
              </a:rPr>
              <a:t> </a:t>
            </a:r>
            <a:r>
              <a:rPr lang="en-US" b="1" dirty="0">
                <a:solidFill>
                  <a:schemeClr val="bg1"/>
                </a:solidFill>
                <a:latin typeface="Times New Roman" pitchFamily="18" charset="0"/>
                <a:cs typeface="Times New Roman" pitchFamily="18" charset="0"/>
              </a:rPr>
              <a:t>D. Jayanth 	 2451-23-737-059</a:t>
            </a:r>
            <a:endParaRPr lang="en-US" sz="1600" dirty="0">
              <a:solidFill>
                <a:schemeClr val="bg1"/>
              </a:solidFill>
              <a:latin typeface="Times New Roman" pitchFamily="18" charset="0"/>
              <a:cs typeface="Times New Roman" pitchFamily="18" charset="0"/>
            </a:endParaRPr>
          </a:p>
          <a:p>
            <a:endParaRPr lang="en-US" sz="1600" dirty="0">
              <a:solidFill>
                <a:schemeClr val="bg1"/>
              </a:solidFill>
              <a:latin typeface="Times New Roman" pitchFamily="18" charset="0"/>
              <a:cs typeface="Times New Roman" pitchFamily="18" charset="0"/>
            </a:endParaRPr>
          </a:p>
          <a:p>
            <a:r>
              <a:rPr lang="en-US" b="1" i="1" dirty="0">
                <a:solidFill>
                  <a:schemeClr val="bg1"/>
                </a:solidFill>
                <a:latin typeface="Times New Roman" pitchFamily="18" charset="0"/>
                <a:cs typeface="Times New Roman" pitchFamily="18" charset="0"/>
              </a:rPr>
              <a:t>	</a:t>
            </a:r>
            <a:r>
              <a:rPr lang="en-IN" b="1" i="1" dirty="0">
                <a:solidFill>
                  <a:schemeClr val="bg1"/>
                </a:solidFill>
                <a:latin typeface="Times New Roman" pitchFamily="18" charset="0"/>
                <a:cs typeface="Times New Roman" pitchFamily="18" charset="0"/>
              </a:rPr>
              <a:t> </a:t>
            </a:r>
            <a:r>
              <a:rPr lang="en-IN" b="1" i="1" u="sng" dirty="0">
                <a:solidFill>
                  <a:schemeClr val="accent6"/>
                </a:solidFill>
                <a:latin typeface="Times New Roman" pitchFamily="18" charset="0"/>
                <a:cs typeface="Times New Roman" pitchFamily="18" charset="0"/>
              </a:rPr>
              <a:t>Under the guidance of</a:t>
            </a:r>
            <a:r>
              <a:rPr lang="en-US" b="1" i="1" dirty="0">
                <a:solidFill>
                  <a:schemeClr val="accent6"/>
                </a:solidFill>
                <a:latin typeface="Times New Roman" pitchFamily="18" charset="0"/>
                <a:cs typeface="Times New Roman" pitchFamily="18" charset="0"/>
              </a:rPr>
              <a:t>: </a:t>
            </a:r>
            <a:r>
              <a:rPr lang="en-IN" b="1" i="1" dirty="0">
                <a:solidFill>
                  <a:schemeClr val="bg1"/>
                </a:solidFill>
                <a:latin typeface="Times New Roman" pitchFamily="18" charset="0"/>
                <a:cs typeface="Times New Roman" pitchFamily="18" charset="0"/>
              </a:rPr>
              <a:t> </a:t>
            </a:r>
            <a:r>
              <a:rPr lang="en-US" sz="2000" b="1" dirty="0">
                <a:solidFill>
                  <a:schemeClr val="bg1"/>
                </a:solidFill>
                <a:latin typeface="Times New Roman" pitchFamily="18" charset="0"/>
                <a:cs typeface="Times New Roman" pitchFamily="18" charset="0"/>
              </a:rPr>
              <a:t>A.</a:t>
            </a:r>
            <a:r>
              <a:rPr lang="en-IN" sz="2000" b="1" dirty="0">
                <a:solidFill>
                  <a:schemeClr val="bg1"/>
                </a:solidFill>
                <a:latin typeface="Times New Roman" pitchFamily="18" charset="0"/>
                <a:cs typeface="Times New Roman" pitchFamily="18" charset="0"/>
              </a:rPr>
              <a:t> </a:t>
            </a:r>
            <a:r>
              <a:rPr lang="en-US" sz="2000" b="1" dirty="0" err="1">
                <a:solidFill>
                  <a:schemeClr val="bg1"/>
                </a:solidFill>
                <a:latin typeface="Times New Roman" pitchFamily="18" charset="0"/>
                <a:cs typeface="Times New Roman" pitchFamily="18" charset="0"/>
              </a:rPr>
              <a:t>Manasa</a:t>
            </a:r>
            <a:r>
              <a:rPr lang="en-IN" sz="2000" b="1" dirty="0">
                <a:solidFill>
                  <a:schemeClr val="bg1"/>
                </a:solidFill>
                <a:latin typeface="Times New Roman" pitchFamily="18" charset="0"/>
                <a:cs typeface="Times New Roman" pitchFamily="18" charset="0"/>
              </a:rPr>
              <a:t> </a:t>
            </a:r>
            <a:r>
              <a:rPr lang="en-US" sz="2000" dirty="0">
                <a:solidFill>
                  <a:schemeClr val="bg1"/>
                </a:solidFill>
                <a:latin typeface="Times New Roman" pitchFamily="18" charset="0"/>
                <a:cs typeface="Times New Roman" pitchFamily="18" charset="0"/>
              </a:rPr>
              <a:t> - Assistant Professor</a:t>
            </a:r>
          </a:p>
        </p:txBody>
      </p:sp>
      <p:pic>
        <p:nvPicPr>
          <p:cNvPr id="21" name="Picture 20">
            <a:extLst>
              <a:ext uri="{FF2B5EF4-FFF2-40B4-BE49-F238E27FC236}">
                <a16:creationId xmlns:a16="http://schemas.microsoft.com/office/drawing/2014/main" id="{001E2924-A7CA-4BE2-F9E0-12E05D6D2A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2898" y="2705258"/>
            <a:ext cx="3092663" cy="173307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3" name="Picture 22">
            <a:extLst>
              <a:ext uri="{FF2B5EF4-FFF2-40B4-BE49-F238E27FC236}">
                <a16:creationId xmlns:a16="http://schemas.microsoft.com/office/drawing/2014/main" id="{AD0D736F-7DB1-4C5F-B13D-4629F113601D}"/>
              </a:ext>
            </a:extLst>
          </p:cNvPr>
          <p:cNvPicPr>
            <a:picLocks noChangeAspect="1"/>
          </p:cNvPicPr>
          <p:nvPr/>
        </p:nvPicPr>
        <p:blipFill>
          <a:blip r:embed="rId4">
            <a:alphaModFix/>
            <a:extLst>
              <a:ext uri="{28A0092B-C50C-407E-A947-70E740481C1C}">
                <a14:useLocalDpi xmlns:a14="http://schemas.microsoft.com/office/drawing/2010/main" val="0"/>
              </a:ext>
            </a:extLst>
          </a:blip>
          <a:srcRect l="4654" t="3502" r="4654" b="3502"/>
          <a:stretch>
            <a:fillRect/>
          </a:stretch>
        </p:blipFill>
        <p:spPr>
          <a:xfrm>
            <a:off x="1979066" y="773999"/>
            <a:ext cx="1358165" cy="1293209"/>
          </a:xfrm>
          <a:prstGeom prst="ellipse">
            <a:avLst/>
          </a:prstGeom>
          <a:ln>
            <a:noFill/>
          </a:ln>
          <a:effectLst>
            <a:softEdge rad="112500"/>
          </a:effectLst>
        </p:spPr>
      </p:pic>
    </p:spTree>
    <p:extLst>
      <p:ext uri="{BB962C8B-B14F-4D97-AF65-F5344CB8AC3E}">
        <p14:creationId xmlns:p14="http://schemas.microsoft.com/office/powerpoint/2010/main" val="1879522499"/>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AA0FD1C-B1D7-2569-40FC-103827F75456}"/>
              </a:ext>
            </a:extLst>
          </p:cNvPr>
          <p:cNvSpPr txBox="1"/>
          <p:nvPr/>
        </p:nvSpPr>
        <p:spPr>
          <a:xfrm>
            <a:off x="1227176" y="1960523"/>
            <a:ext cx="9662939" cy="3308598"/>
          </a:xfrm>
          <a:prstGeom prst="rect">
            <a:avLst/>
          </a:prstGeom>
          <a:noFill/>
        </p:spPr>
        <p:txBody>
          <a:bodyPr wrap="square" rtlCol="0">
            <a:spAutoFit/>
          </a:bodyPr>
          <a:lstStyle/>
          <a:p>
            <a:pPr algn="just"/>
            <a:r>
              <a:rPr lang="en-IN" sz="1900" dirty="0">
                <a:solidFill>
                  <a:schemeClr val="bg1"/>
                </a:solidFill>
                <a:latin typeface="Times New Roman" pitchFamily="18" charset="0"/>
                <a:cs typeface="Times New Roman" pitchFamily="18" charset="0"/>
              </a:rPr>
              <a:t>The project creates a smart, transparent, and sustainable digital platform for modern agriculture and rural empowerment. This is a digital agriculture platform supports three main users: farmers, customers, and agents</a:t>
            </a:r>
            <a:r>
              <a:rPr lang="en-IN" sz="1900" b="1" dirty="0">
                <a:solidFill>
                  <a:schemeClr val="bg1"/>
                </a:solidFill>
                <a:latin typeface="Times New Roman" pitchFamily="18" charset="0"/>
                <a:cs typeface="Times New Roman" pitchFamily="18" charset="0"/>
              </a:rPr>
              <a:t>. </a:t>
            </a:r>
            <a:r>
              <a:rPr lang="en-IN" sz="1900" dirty="0">
                <a:solidFill>
                  <a:schemeClr val="bg1"/>
                </a:solidFill>
                <a:latin typeface="Times New Roman" pitchFamily="18" charset="0"/>
                <a:cs typeface="Times New Roman" pitchFamily="18" charset="0"/>
              </a:rPr>
              <a:t>Farmers can easily register, upload crop details, and sell products directly. Customers can search, compare, and purchase farm products online or directly from farms. Agents verify farmers, manage delivery services, and maintain system trust and quality. The platform is designed with voice-based</a:t>
            </a:r>
            <a:r>
              <a:rPr lang="en-IN" sz="1900" b="1" dirty="0">
                <a:solidFill>
                  <a:schemeClr val="bg1"/>
                </a:solidFill>
                <a:latin typeface="Times New Roman" pitchFamily="18" charset="0"/>
                <a:cs typeface="Times New Roman" pitchFamily="18" charset="0"/>
              </a:rPr>
              <a:t> </a:t>
            </a:r>
            <a:r>
              <a:rPr lang="en-IN" sz="1900" dirty="0">
                <a:solidFill>
                  <a:schemeClr val="bg1"/>
                </a:solidFill>
                <a:latin typeface="Times New Roman" pitchFamily="18" charset="0"/>
                <a:cs typeface="Times New Roman" pitchFamily="18" charset="0"/>
              </a:rPr>
              <a:t>technology and multilingual support, allowing farmers and customers to use their voice instead of typing. Machine learning, weather data, and artificial intelligence are used to predict crop demand, suggest profitable crops, and help farmers plan cultivation based on season and market trends. Smart delivery routing reduces transportation cost and time. Community group buying reduces delivery cost for customers. A trust-based system helps identify reliable farmers. </a:t>
            </a:r>
          </a:p>
        </p:txBody>
      </p:sp>
      <p:sp>
        <p:nvSpPr>
          <p:cNvPr id="4" name="Ribbon: Curved and Tilted Up 3">
            <a:extLst>
              <a:ext uri="{FF2B5EF4-FFF2-40B4-BE49-F238E27FC236}">
                <a16:creationId xmlns:a16="http://schemas.microsoft.com/office/drawing/2014/main" id="{42B0818E-8994-86AB-55BD-93A59AACEDE7}"/>
              </a:ext>
            </a:extLst>
          </p:cNvPr>
          <p:cNvSpPr/>
          <p:nvPr/>
        </p:nvSpPr>
        <p:spPr>
          <a:xfrm>
            <a:off x="5010761" y="768635"/>
            <a:ext cx="2170474" cy="1108269"/>
          </a:xfrm>
          <a:prstGeom prst="ellipseRibbon2">
            <a:avLst>
              <a:gd name="adj1" fmla="val 54186"/>
              <a:gd name="adj2" fmla="val 100000"/>
              <a:gd name="adj3" fmla="val 31279"/>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1C22496-1B0F-8C49-C21B-FC98023366BF}"/>
              </a:ext>
            </a:extLst>
          </p:cNvPr>
          <p:cNvSpPr txBox="1"/>
          <p:nvPr/>
        </p:nvSpPr>
        <p:spPr>
          <a:xfrm>
            <a:off x="3047998" y="724336"/>
            <a:ext cx="6096000" cy="523220"/>
          </a:xfrm>
          <a:prstGeom prst="rect">
            <a:avLst/>
          </a:prstGeom>
          <a:noFill/>
        </p:spPr>
        <p:txBody>
          <a:bodyPr wrap="square">
            <a:spAutoFit/>
          </a:bodyPr>
          <a:lstStyle/>
          <a:p>
            <a:pPr algn="ctr"/>
            <a:r>
              <a:rPr lang="en-US" sz="2800" b="1" i="1" u="sng" dirty="0">
                <a:latin typeface="Times New Roman" pitchFamily="18" charset="0"/>
                <a:cs typeface="Times New Roman" pitchFamily="18" charset="0"/>
              </a:rPr>
              <a:t>Abstract</a:t>
            </a:r>
          </a:p>
        </p:txBody>
      </p:sp>
    </p:spTree>
    <p:extLst>
      <p:ext uri="{BB962C8B-B14F-4D97-AF65-F5344CB8AC3E}">
        <p14:creationId xmlns:p14="http://schemas.microsoft.com/office/powerpoint/2010/main" val="327218449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A901DCE-B534-0F8E-3602-467E4DB700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6060" y="979493"/>
            <a:ext cx="9305172" cy="4505276"/>
          </a:xfrm>
          <a:prstGeom prst="rect">
            <a:avLst/>
          </a:prstGeom>
          <a:ln>
            <a:noFill/>
          </a:ln>
          <a:effectLst>
            <a:softEdge rad="112500"/>
          </a:effectLst>
        </p:spPr>
      </p:pic>
    </p:spTree>
    <p:extLst>
      <p:ext uri="{BB962C8B-B14F-4D97-AF65-F5344CB8AC3E}">
        <p14:creationId xmlns:p14="http://schemas.microsoft.com/office/powerpoint/2010/main" val="143185729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7B7873C-AEA1-6147-C8F8-6D53F6164191}"/>
              </a:ext>
            </a:extLst>
          </p:cNvPr>
          <p:cNvSpPr txBox="1"/>
          <p:nvPr/>
        </p:nvSpPr>
        <p:spPr>
          <a:xfrm>
            <a:off x="3010646" y="1016907"/>
            <a:ext cx="6096000" cy="523220"/>
          </a:xfrm>
          <a:prstGeom prst="rect">
            <a:avLst/>
          </a:prstGeom>
          <a:noFill/>
        </p:spPr>
        <p:txBody>
          <a:bodyPr wrap="square">
            <a:spAutoFit/>
          </a:bodyPr>
          <a:lstStyle/>
          <a:p>
            <a:pPr algn="ctr"/>
            <a:r>
              <a:rPr lang="en-US" sz="2800" b="1" i="1" u="sng" dirty="0">
                <a:solidFill>
                  <a:schemeClr val="bg1"/>
                </a:solidFill>
                <a:latin typeface="Times New Roman" pitchFamily="18" charset="0"/>
                <a:cs typeface="Times New Roman" pitchFamily="18" charset="0"/>
              </a:rPr>
              <a:t>Introduction</a:t>
            </a:r>
            <a:r>
              <a:rPr lang="en-US" sz="2400" b="1" i="1" u="sng" dirty="0">
                <a:solidFill>
                  <a:schemeClr val="bg1"/>
                </a:solidFill>
                <a:latin typeface="Times New Roman" pitchFamily="18" charset="0"/>
                <a:cs typeface="Times New Roman" pitchFamily="18" charset="0"/>
              </a:rPr>
              <a:t> </a:t>
            </a:r>
          </a:p>
        </p:txBody>
      </p:sp>
      <p:sp>
        <p:nvSpPr>
          <p:cNvPr id="9" name="TextBox 8">
            <a:extLst>
              <a:ext uri="{FF2B5EF4-FFF2-40B4-BE49-F238E27FC236}">
                <a16:creationId xmlns:a16="http://schemas.microsoft.com/office/drawing/2014/main" id="{1A71D8A0-20FE-4E4A-D51A-4E13F7CCB2D8}"/>
              </a:ext>
            </a:extLst>
          </p:cNvPr>
          <p:cNvSpPr txBox="1"/>
          <p:nvPr/>
        </p:nvSpPr>
        <p:spPr>
          <a:xfrm>
            <a:off x="1243201" y="1803006"/>
            <a:ext cx="9705598" cy="3016210"/>
          </a:xfrm>
          <a:prstGeom prst="rect">
            <a:avLst/>
          </a:prstGeom>
          <a:noFill/>
        </p:spPr>
        <p:txBody>
          <a:bodyPr wrap="square" rtlCol="0">
            <a:spAutoFit/>
          </a:bodyPr>
          <a:lstStyle/>
          <a:p>
            <a:pPr algn="just"/>
            <a:r>
              <a:rPr lang="en-US" sz="1900" dirty="0">
                <a:solidFill>
                  <a:schemeClr val="bg1"/>
                </a:solidFill>
                <a:latin typeface="Times New Roman" panose="02020603050405020304" pitchFamily="18" charset="0"/>
                <a:cs typeface="Times New Roman" panose="02020603050405020304" pitchFamily="18" charset="0"/>
              </a:rPr>
              <a:t>This project is </a:t>
            </a:r>
            <a:r>
              <a:rPr lang="en-IN" sz="1900" dirty="0">
                <a:solidFill>
                  <a:schemeClr val="bg1"/>
                </a:solidFill>
                <a:latin typeface="Times New Roman" panose="02020603050405020304" pitchFamily="18" charset="0"/>
                <a:cs typeface="Times New Roman" panose="02020603050405020304" pitchFamily="18" charset="0"/>
              </a:rPr>
              <a:t>aimed</a:t>
            </a:r>
            <a:r>
              <a:rPr lang="en-US" sz="1900" dirty="0">
                <a:solidFill>
                  <a:schemeClr val="bg1"/>
                </a:solidFill>
                <a:latin typeface="Times New Roman" panose="02020603050405020304" pitchFamily="18" charset="0"/>
                <a:cs typeface="Times New Roman" panose="02020603050405020304" pitchFamily="18" charset="0"/>
              </a:rPr>
              <a:t> to solve major problems faced by farmers and customers by creating a platform that connects them directly.Farmers often face low profits, middlemen dependency, and lack of market access, while customers struggle to find fresh and affordable farm products. This system uses machine learning to provide weather-based crop suggestions, price prediction, and demand analysis. It includes an AI farmer assistant that gives farming guidance through voice in local languages. Voice technology allows farmers to upload crop details and receive updates without typing. The platform also offers smart delivery routing, farmer trust scores, and community group buying to reduce costs. This system helps increase farmer income, reduce food waste, provide fresh food to customers, and support rural digital growth while making agriculture smarter and more transparent.</a:t>
            </a:r>
            <a:endParaRPr lang="en-IN" sz="1900" dirty="0">
              <a:solidFill>
                <a:schemeClr val="bg1"/>
              </a:solidFill>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212972864"/>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F66CC33-D56A-24F9-2AC2-1FF28392D81C}"/>
              </a:ext>
            </a:extLst>
          </p:cNvPr>
          <p:cNvSpPr txBox="1"/>
          <p:nvPr/>
        </p:nvSpPr>
        <p:spPr>
          <a:xfrm>
            <a:off x="3601671" y="2747383"/>
            <a:ext cx="7560841" cy="969496"/>
          </a:xfrm>
          <a:prstGeom prst="rect">
            <a:avLst/>
          </a:prstGeom>
          <a:noFill/>
        </p:spPr>
        <p:txBody>
          <a:bodyPr wrap="square">
            <a:spAutoFit/>
          </a:bodyPr>
          <a:lstStyle/>
          <a:p>
            <a:pPr algn="just">
              <a:buNone/>
            </a:pPr>
            <a:r>
              <a:rPr lang="en-IN" sz="1900" dirty="0">
                <a:solidFill>
                  <a:schemeClr val="bg1"/>
                </a:solidFill>
                <a:latin typeface="Times New Roman" panose="02020603050405020304" pitchFamily="18" charset="0"/>
                <a:cs typeface="Times New Roman" panose="02020603050405020304" pitchFamily="18" charset="0"/>
              </a:rPr>
              <a:t>To develop a</a:t>
            </a:r>
            <a:r>
              <a:rPr lang="en-US" sz="1900" dirty="0">
                <a:solidFill>
                  <a:schemeClr val="bg1"/>
                </a:solidFill>
                <a:latin typeface="Times New Roman" panose="02020603050405020304" pitchFamily="18" charset="0"/>
                <a:cs typeface="Times New Roman" panose="02020603050405020304" pitchFamily="18" charset="0"/>
              </a:rPr>
              <a:t> digital platform that directly connects farmers and customers to enable fair farmer earnings while providing customers with affordable</a:t>
            </a:r>
            <a:r>
              <a:rPr lang="en-IN" sz="1900" dirty="0">
                <a:solidFill>
                  <a:schemeClr val="bg1"/>
                </a:solidFill>
                <a:latin typeface="Times New Roman" panose="02020603050405020304" pitchFamily="18" charset="0"/>
                <a:cs typeface="Times New Roman" panose="02020603050405020304" pitchFamily="18" charset="0"/>
              </a:rPr>
              <a:t> </a:t>
            </a:r>
            <a:r>
              <a:rPr lang="en-US" sz="1900" dirty="0">
                <a:solidFill>
                  <a:schemeClr val="bg1"/>
                </a:solidFill>
                <a:latin typeface="Times New Roman" panose="02020603050405020304" pitchFamily="18" charset="0"/>
                <a:cs typeface="Times New Roman" panose="02020603050405020304" pitchFamily="18" charset="0"/>
              </a:rPr>
              <a:t>organic food without intermediaries.</a:t>
            </a:r>
          </a:p>
        </p:txBody>
      </p:sp>
      <p:pic>
        <p:nvPicPr>
          <p:cNvPr id="11" name="Picture 10">
            <a:extLst>
              <a:ext uri="{FF2B5EF4-FFF2-40B4-BE49-F238E27FC236}">
                <a16:creationId xmlns:a16="http://schemas.microsoft.com/office/drawing/2014/main" id="{E1F5D805-FA40-F547-77EA-69D9EA8DD17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9488" y="2516073"/>
            <a:ext cx="2444856" cy="162990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erminator 4">
            <a:extLst>
              <a:ext uri="{FF2B5EF4-FFF2-40B4-BE49-F238E27FC236}">
                <a16:creationId xmlns:a16="http://schemas.microsoft.com/office/drawing/2014/main" id="{76A4DFBF-1524-A173-B41D-328E4F5B69E0}"/>
              </a:ext>
            </a:extLst>
          </p:cNvPr>
          <p:cNvSpPr/>
          <p:nvPr/>
        </p:nvSpPr>
        <p:spPr>
          <a:xfrm>
            <a:off x="4267890" y="1589630"/>
            <a:ext cx="3693071" cy="523220"/>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TextBox 9">
            <a:extLst>
              <a:ext uri="{FF2B5EF4-FFF2-40B4-BE49-F238E27FC236}">
                <a16:creationId xmlns:a16="http://schemas.microsoft.com/office/drawing/2014/main" id="{071B3F68-98B0-450F-BA54-38236073BAE7}"/>
              </a:ext>
            </a:extLst>
          </p:cNvPr>
          <p:cNvSpPr txBox="1"/>
          <p:nvPr/>
        </p:nvSpPr>
        <p:spPr>
          <a:xfrm>
            <a:off x="2315579" y="1554034"/>
            <a:ext cx="7560840" cy="523220"/>
          </a:xfrm>
          <a:prstGeom prst="rect">
            <a:avLst/>
          </a:prstGeom>
          <a:noFill/>
        </p:spPr>
        <p:txBody>
          <a:bodyPr wrap="square" rtlCol="0">
            <a:spAutoFit/>
          </a:bodyPr>
          <a:lstStyle/>
          <a:p>
            <a:pPr algn="ctr"/>
            <a:r>
              <a:rPr lang="en-US" sz="2800" b="1" i="1" u="sng" dirty="0">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260572444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257" y="-6357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760836" y="339198"/>
            <a:ext cx="10813699" cy="560184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2387265" y="551255"/>
            <a:ext cx="7560840" cy="553998"/>
          </a:xfrm>
          <a:prstGeom prst="rect">
            <a:avLst/>
          </a:prstGeom>
          <a:noFill/>
        </p:spPr>
        <p:txBody>
          <a:bodyPr wrap="square" rtlCol="0">
            <a:spAutoFit/>
          </a:bodyPr>
          <a:lstStyle/>
          <a:p>
            <a:pPr algn="ctr"/>
            <a:r>
              <a:rPr lang="en-IN" sz="3000" b="1" i="1" u="sng" dirty="0">
                <a:solidFill>
                  <a:schemeClr val="bg1"/>
                </a:solidFill>
                <a:latin typeface="Times New Roman" panose="02020603050405020304" pitchFamily="18" charset="0"/>
                <a:cs typeface="Times New Roman" panose="02020603050405020304" pitchFamily="18" charset="0"/>
              </a:rPr>
              <a:t>Literature survey </a:t>
            </a:r>
          </a:p>
        </p:txBody>
      </p:sp>
      <p:sp>
        <p:nvSpPr>
          <p:cNvPr id="3" name="Oval 2">
            <a:extLst>
              <a:ext uri="{FF2B5EF4-FFF2-40B4-BE49-F238E27FC236}">
                <a16:creationId xmlns:a16="http://schemas.microsoft.com/office/drawing/2014/main" id="{468B166B-8B34-2994-D875-984C9CE35784}"/>
              </a:ext>
            </a:extLst>
          </p:cNvPr>
          <p:cNvSpPr/>
          <p:nvPr/>
        </p:nvSpPr>
        <p:spPr>
          <a:xfrm>
            <a:off x="148167" y="27357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Oval 8">
            <a:extLst>
              <a:ext uri="{FF2B5EF4-FFF2-40B4-BE49-F238E27FC236}">
                <a16:creationId xmlns:a16="http://schemas.microsoft.com/office/drawing/2014/main" id="{966D83B1-85EC-20A2-8E26-B6B4F457E84F}"/>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B23FBD8-3D4E-14B4-FD20-971AE8D09C6A}"/>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BC60DAF4-CF86-2F7C-2B8E-3026158F0FEE}"/>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5" name="Table 4">
            <a:extLst>
              <a:ext uri="{FF2B5EF4-FFF2-40B4-BE49-F238E27FC236}">
                <a16:creationId xmlns:a16="http://schemas.microsoft.com/office/drawing/2014/main" id="{AD69C281-CF96-0802-0C00-8F93AA3AA750}"/>
              </a:ext>
            </a:extLst>
          </p:cNvPr>
          <p:cNvGraphicFramePr/>
          <p:nvPr>
            <p:extLst>
              <p:ext uri="{D42A27DB-BD31-4B8C-83A1-F6EECF244321}">
                <p14:modId xmlns:p14="http://schemas.microsoft.com/office/powerpoint/2010/main" val="2284669238"/>
              </p:ext>
            </p:extLst>
          </p:nvPr>
        </p:nvGraphicFramePr>
        <p:xfrm>
          <a:off x="1918521" y="1315173"/>
          <a:ext cx="8343394" cy="4274357"/>
        </p:xfrm>
        <a:graphic>
          <a:graphicData uri="http://schemas.openxmlformats.org/drawingml/2006/table">
            <a:tbl>
              <a:tblPr firstRow="1">
                <a:tableStyleId>{5940675A-B579-460E-94D1-54222C63F5DA}</a:tableStyleId>
              </a:tblPr>
              <a:tblGrid>
                <a:gridCol w="313071">
                  <a:extLst>
                    <a:ext uri="{9D8B030D-6E8A-4147-A177-3AD203B41FA5}">
                      <a16:colId xmlns:a16="http://schemas.microsoft.com/office/drawing/2014/main" val="1672982327"/>
                    </a:ext>
                  </a:extLst>
                </a:gridCol>
                <a:gridCol w="1294146">
                  <a:extLst>
                    <a:ext uri="{9D8B030D-6E8A-4147-A177-3AD203B41FA5}">
                      <a16:colId xmlns:a16="http://schemas.microsoft.com/office/drawing/2014/main" val="3016375695"/>
                    </a:ext>
                  </a:extLst>
                </a:gridCol>
                <a:gridCol w="325771">
                  <a:extLst>
                    <a:ext uri="{9D8B030D-6E8A-4147-A177-3AD203B41FA5}">
                      <a16:colId xmlns:a16="http://schemas.microsoft.com/office/drawing/2014/main" val="1360506072"/>
                    </a:ext>
                  </a:extLst>
                </a:gridCol>
                <a:gridCol w="1259221">
                  <a:extLst>
                    <a:ext uri="{9D8B030D-6E8A-4147-A177-3AD203B41FA5}">
                      <a16:colId xmlns:a16="http://schemas.microsoft.com/office/drawing/2014/main" val="2258947912"/>
                    </a:ext>
                  </a:extLst>
                </a:gridCol>
                <a:gridCol w="1573546">
                  <a:extLst>
                    <a:ext uri="{9D8B030D-6E8A-4147-A177-3AD203B41FA5}">
                      <a16:colId xmlns:a16="http://schemas.microsoft.com/office/drawing/2014/main" val="3267084363"/>
                    </a:ext>
                  </a:extLst>
                </a:gridCol>
                <a:gridCol w="1210009">
                  <a:extLst>
                    <a:ext uri="{9D8B030D-6E8A-4147-A177-3AD203B41FA5}">
                      <a16:colId xmlns:a16="http://schemas.microsoft.com/office/drawing/2014/main" val="4970431"/>
                    </a:ext>
                  </a:extLst>
                </a:gridCol>
                <a:gridCol w="1246521">
                  <a:extLst>
                    <a:ext uri="{9D8B030D-6E8A-4147-A177-3AD203B41FA5}">
                      <a16:colId xmlns:a16="http://schemas.microsoft.com/office/drawing/2014/main" val="4058448476"/>
                    </a:ext>
                  </a:extLst>
                </a:gridCol>
                <a:gridCol w="1121109">
                  <a:extLst>
                    <a:ext uri="{9D8B030D-6E8A-4147-A177-3AD203B41FA5}">
                      <a16:colId xmlns:a16="http://schemas.microsoft.com/office/drawing/2014/main" val="1116074690"/>
                    </a:ext>
                  </a:extLst>
                </a:gridCol>
              </a:tblGrid>
              <a:tr h="374710">
                <a:tc>
                  <a:txBody>
                    <a:bodyPr/>
                    <a:lstStyle/>
                    <a:p>
                      <a:pPr algn="ctr">
                        <a:spcAft>
                          <a:spcPts val="2400"/>
                        </a:spcAft>
                        <a:buNone/>
                      </a:pPr>
                      <a:r>
                        <a:rPr lang="en-IN" sz="1200">
                          <a:effectLst/>
                        </a:rPr>
                        <a:t>S.No</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Author</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Year</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Title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Modules Covered</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Key Points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Adopted Features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Limitations</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4200206968"/>
                  </a:ext>
                </a:extLst>
              </a:tr>
              <a:tr h="473811">
                <a:tc>
                  <a:txBody>
                    <a:bodyPr/>
                    <a:lstStyle/>
                    <a:p>
                      <a:pPr algn="ctr">
                        <a:spcAft>
                          <a:spcPts val="2400"/>
                        </a:spcAft>
                        <a:buNone/>
                      </a:pPr>
                      <a:r>
                        <a:rPr lang="en-IN" sz="1200">
                          <a:effectLst/>
                        </a:rPr>
                        <a:t>1</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I. Rahman, Riyazulla</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2024</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 to Fork</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Customer, Market</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Digital farm marketplace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Farmer-consumer platform</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No AI support</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1367501044"/>
                  </a:ext>
                </a:extLst>
              </a:tr>
              <a:tr h="607328">
                <a:tc>
                  <a:txBody>
                    <a:bodyPr/>
                    <a:lstStyle/>
                    <a:p>
                      <a:pPr algn="ctr">
                        <a:spcAft>
                          <a:spcPts val="2400"/>
                        </a:spcAft>
                        <a:buNone/>
                      </a:pPr>
                      <a:r>
                        <a:rPr lang="en-IN" sz="1200">
                          <a:effectLst/>
                        </a:rPr>
                        <a:t>2</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Univ. of Washington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2020</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Farm-to-Table System</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Customer, Admin, Delivery</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Organized supply chain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Delivery tracking</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Region specific</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2953048681"/>
                  </a:ext>
                </a:extLst>
              </a:tr>
              <a:tr h="473811">
                <a:tc>
                  <a:txBody>
                    <a:bodyPr/>
                    <a:lstStyle/>
                    <a:p>
                      <a:pPr algn="ctr">
                        <a:spcAft>
                          <a:spcPts val="2400"/>
                        </a:spcAft>
                        <a:buNone/>
                      </a:pPr>
                      <a:r>
                        <a:rPr lang="en-IN" sz="1200">
                          <a:effectLst/>
                        </a:rPr>
                        <a:t>3</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S. G. Yogesh, D. S. Ravindran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2023</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Organic Sales Profitability</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Customer, Admin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Improves farmer income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Direct digital sales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Literacy issues</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1042564570"/>
                  </a:ext>
                </a:extLst>
              </a:tr>
              <a:tr h="473811">
                <a:tc>
                  <a:txBody>
                    <a:bodyPr/>
                    <a:lstStyle/>
                    <a:p>
                      <a:pPr algn="ctr">
                        <a:spcAft>
                          <a:spcPts val="2400"/>
                        </a:spcAft>
                        <a:buNone/>
                      </a:pPr>
                      <a:r>
                        <a:rPr lang="en-IN" sz="1200">
                          <a:effectLst/>
                        </a:rPr>
                        <a:t>4</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S. Pudumalar et al.</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2017</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Crop Recommendation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Recommendation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dirty="0">
                          <a:effectLst/>
                        </a:rPr>
                        <a:t>Soil-based crop selection</a:t>
                      </a:r>
                      <a:endParaRPr lang="en-IN" sz="1200" dirty="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ML recommendation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Limited dataset</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379845158"/>
                  </a:ext>
                </a:extLst>
              </a:tr>
              <a:tr h="374710">
                <a:tc>
                  <a:txBody>
                    <a:bodyPr/>
                    <a:lstStyle/>
                    <a:p>
                      <a:pPr algn="ctr">
                        <a:spcAft>
                          <a:spcPts val="2400"/>
                        </a:spcAft>
                        <a:buNone/>
                      </a:pPr>
                      <a:r>
                        <a:rPr lang="en-IN" sz="1200">
                          <a:effectLst/>
                        </a:rPr>
                        <a:t>5</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N. H. Kulkarni et al.</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2018</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Crop Productivity</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Analytics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Improves productivity</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dirty="0">
                          <a:effectLst/>
                        </a:rPr>
                        <a:t>Ensemble learning</a:t>
                      </a:r>
                      <a:endParaRPr lang="en-IN" sz="1200" dirty="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No real-time support</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4267650332"/>
                  </a:ext>
                </a:extLst>
              </a:tr>
              <a:tr h="374710">
                <a:tc>
                  <a:txBody>
                    <a:bodyPr/>
                    <a:lstStyle/>
                    <a:p>
                      <a:pPr algn="ctr">
                        <a:spcAft>
                          <a:spcPts val="2400"/>
                        </a:spcAft>
                        <a:buNone/>
                      </a:pPr>
                      <a:r>
                        <a:rPr lang="en-IN" sz="1200">
                          <a:effectLst/>
                        </a:rPr>
                        <a:t>6</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Y. J. N. Kumar et al.</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2020</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Crop Yield Prediction</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ML Engine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Predicts crop yield</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Yield forecasting</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Data dependent</a:t>
                      </a:r>
                      <a:endParaRPr lang="en-IN" sz="120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836443614"/>
                  </a:ext>
                </a:extLst>
              </a:tr>
              <a:tr h="473811">
                <a:tc>
                  <a:txBody>
                    <a:bodyPr/>
                    <a:lstStyle/>
                    <a:p>
                      <a:pPr algn="ctr">
                        <a:spcAft>
                          <a:spcPts val="2400"/>
                        </a:spcAft>
                        <a:buNone/>
                      </a:pPr>
                      <a:r>
                        <a:rPr lang="en-IN" sz="1200">
                          <a:effectLst/>
                        </a:rPr>
                        <a:t>7</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N. Shirisha et al.</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2024</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Multilingual Farming</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Voice Module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Supports native languages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NLP assistance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dirty="0">
                          <a:effectLst/>
                        </a:rPr>
                        <a:t>Translation errors</a:t>
                      </a:r>
                      <a:endParaRPr lang="en-IN" sz="1200" dirty="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731734450"/>
                  </a:ext>
                </a:extLst>
              </a:tr>
              <a:tr h="473811">
                <a:tc>
                  <a:txBody>
                    <a:bodyPr/>
                    <a:lstStyle/>
                    <a:p>
                      <a:pPr algn="ctr">
                        <a:spcAft>
                          <a:spcPts val="2400"/>
                        </a:spcAft>
                        <a:buNone/>
                      </a:pPr>
                      <a:r>
                        <a:rPr lang="en-IN" sz="1200">
                          <a:effectLst/>
                        </a:rPr>
                        <a:t>8</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S. Sultana et al.</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2025</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Organic Farming Landscape</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Farmer, Market</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Studies market trends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a:effectLst/>
                        </a:rPr>
                        <a:t>Buyer insights</a:t>
                      </a:r>
                      <a:endParaRPr lang="en-IN" sz="1200">
                        <a:effectLst/>
                        <a:latin typeface="Google Sans Text"/>
                      </a:endParaRPr>
                    </a:p>
                  </a:txBody>
                  <a:tcPr marL="50173" marR="50173" marT="33449" marB="33449" anchor="ctr">
                    <a:solidFill>
                      <a:schemeClr val="bg1"/>
                    </a:solidFill>
                  </a:tcPr>
                </a:tc>
                <a:tc>
                  <a:txBody>
                    <a:bodyPr/>
                    <a:lstStyle/>
                    <a:p>
                      <a:pPr algn="ctr">
                        <a:spcAft>
                          <a:spcPts val="2400"/>
                        </a:spcAft>
                        <a:buNone/>
                      </a:pPr>
                      <a:r>
                        <a:rPr lang="en-IN" sz="1200" dirty="0">
                          <a:effectLst/>
                        </a:rPr>
                        <a:t>Limited implementation</a:t>
                      </a:r>
                      <a:endParaRPr lang="en-IN" sz="1200" dirty="0">
                        <a:effectLst/>
                        <a:latin typeface="Google Sans Text"/>
                      </a:endParaRPr>
                    </a:p>
                  </a:txBody>
                  <a:tcPr marL="50173" marR="50173" marT="33449" marB="33449" anchor="ctr">
                    <a:solidFill>
                      <a:schemeClr val="bg1"/>
                    </a:solidFill>
                  </a:tcPr>
                </a:tc>
                <a:extLst>
                  <a:ext uri="{0D108BD9-81ED-4DB2-BD59-A6C34878D82A}">
                    <a16:rowId xmlns:a16="http://schemas.microsoft.com/office/drawing/2014/main" val="3155112127"/>
                  </a:ext>
                </a:extLst>
              </a:tr>
            </a:tbl>
          </a:graphicData>
        </a:graphic>
      </p:graphicFrame>
    </p:spTree>
    <p:extLst>
      <p:ext uri="{BB962C8B-B14F-4D97-AF65-F5344CB8AC3E}">
        <p14:creationId xmlns:p14="http://schemas.microsoft.com/office/powerpoint/2010/main" val="2540701867"/>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2CC3863-E485-4210-0683-F455736BB9F2}"/>
              </a:ext>
            </a:extLst>
          </p:cNvPr>
          <p:cNvSpPr txBox="1"/>
          <p:nvPr/>
        </p:nvSpPr>
        <p:spPr>
          <a:xfrm>
            <a:off x="900743" y="1631038"/>
            <a:ext cx="7560839" cy="2431435"/>
          </a:xfrm>
          <a:prstGeom prst="rect">
            <a:avLst/>
          </a:prstGeom>
          <a:noFill/>
        </p:spPr>
        <p:txBody>
          <a:bodyPr wrap="square">
            <a:spAutoFit/>
          </a:bodyPr>
          <a:lstStyle/>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In the current agricultural market system, farmers usually depend on intermediaries such as wholesalers</a:t>
            </a:r>
            <a:r>
              <a:rPr lang="en-IN" sz="1900" dirty="0">
                <a:solidFill>
                  <a:schemeClr val="bg1"/>
                </a:solidFill>
                <a:latin typeface="Times New Roman" panose="02020603050405020304" pitchFamily="18" charset="0"/>
                <a:cs typeface="Times New Roman" panose="02020603050405020304" pitchFamily="18" charset="0"/>
              </a:rPr>
              <a:t>,greengrocers </a:t>
            </a:r>
            <a:r>
              <a:rPr lang="en-US" sz="1900" dirty="0">
                <a:solidFill>
                  <a:schemeClr val="bg1"/>
                </a:solidFill>
                <a:latin typeface="Times New Roman" panose="02020603050405020304" pitchFamily="18" charset="0"/>
                <a:cs typeface="Times New Roman" panose="02020603050405020304" pitchFamily="18" charset="0"/>
              </a:rPr>
              <a:t>, vendors and retailers to sell their products.  </a:t>
            </a:r>
            <a:endParaRPr lang="en-IN" sz="19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IN" sz="1900" dirty="0">
                <a:solidFill>
                  <a:schemeClr val="bg1"/>
                </a:solidFill>
                <a:latin typeface="Times New Roman" panose="02020603050405020304" pitchFamily="18" charset="0"/>
                <a:cs typeface="Times New Roman" panose="02020603050405020304" pitchFamily="18" charset="0"/>
              </a:rPr>
              <a:t>Customers purchases the goods as per the price decided by those vendors.</a:t>
            </a:r>
            <a:endParaRPr lang="en-US" sz="1900" dirty="0">
              <a:solidFill>
                <a:schemeClr val="bg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Farmers also lack access to real-time demand data, weather-based crop planning and direct customer feedback, which affects their income stability and production decisions.</a:t>
            </a:r>
            <a:endParaRPr lang="en-IN" sz="1900" dirty="0">
              <a:solidFill>
                <a:schemeClr val="bg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CCA70B54-4973-0AFA-B4B1-F277300F83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66724" y="3595681"/>
            <a:ext cx="2598096" cy="173206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3" name="Picture 12">
            <a:extLst>
              <a:ext uri="{FF2B5EF4-FFF2-40B4-BE49-F238E27FC236}">
                <a16:creationId xmlns:a16="http://schemas.microsoft.com/office/drawing/2014/main" id="{C3ED7537-775E-D553-8D52-6578A8632C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6724" y="1714138"/>
            <a:ext cx="2524533" cy="1683022"/>
          </a:xfrm>
          <a:prstGeom prst="rect">
            <a:avLst/>
          </a:prstGeom>
          <a:ln>
            <a:noFill/>
          </a:ln>
          <a:effectLst>
            <a:softEdge rad="112500"/>
          </a:effectLst>
        </p:spPr>
      </p:pic>
      <p:sp>
        <p:nvSpPr>
          <p:cNvPr id="5" name="TextBox 4">
            <a:extLst>
              <a:ext uri="{FF2B5EF4-FFF2-40B4-BE49-F238E27FC236}">
                <a16:creationId xmlns:a16="http://schemas.microsoft.com/office/drawing/2014/main" id="{5028FFD5-E168-7C1E-1382-4D78353189C9}"/>
              </a:ext>
            </a:extLst>
          </p:cNvPr>
          <p:cNvSpPr txBox="1"/>
          <p:nvPr/>
        </p:nvSpPr>
        <p:spPr>
          <a:xfrm>
            <a:off x="1095058" y="4590132"/>
            <a:ext cx="7560839" cy="126188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buFont typeface="Wingdings" pitchFamily="2" charset="2"/>
              <a:buChar char="Ø"/>
            </a:pPr>
            <a:r>
              <a:rPr lang="en-IN" sz="1900" dirty="0">
                <a:solidFill>
                  <a:schemeClr val="bg1"/>
                </a:solidFill>
                <a:latin typeface="Times New Roman" panose="02020603050405020304" pitchFamily="18" charset="0"/>
                <a:cs typeface="Times New Roman" panose="02020603050405020304" pitchFamily="18" charset="0"/>
              </a:rPr>
              <a:t> </a:t>
            </a:r>
            <a:r>
              <a:rPr lang="en-US" sz="1900" dirty="0">
                <a:solidFill>
                  <a:schemeClr val="bg1"/>
                </a:solidFill>
                <a:latin typeface="Times New Roman" panose="02020603050405020304" pitchFamily="18" charset="0"/>
                <a:cs typeface="Times New Roman" panose="02020603050405020304" pitchFamily="18" charset="0"/>
              </a:rPr>
              <a:t> </a:t>
            </a:r>
            <a:r>
              <a:rPr lang="en-IN" sz="1900" dirty="0">
                <a:solidFill>
                  <a:schemeClr val="bg1"/>
                </a:solidFill>
                <a:latin typeface="Times New Roman" panose="02020603050405020304" pitchFamily="18" charset="0"/>
                <a:cs typeface="Times New Roman" panose="02020603050405020304" pitchFamily="18" charset="0"/>
              </a:rPr>
              <a:t>Fa</a:t>
            </a:r>
            <a:r>
              <a:rPr lang="en-US" sz="1900" dirty="0" err="1">
                <a:solidFill>
                  <a:schemeClr val="bg1"/>
                </a:solidFill>
                <a:latin typeface="Times New Roman" panose="02020603050405020304" pitchFamily="18" charset="0"/>
                <a:cs typeface="Times New Roman" panose="02020603050405020304" pitchFamily="18" charset="0"/>
              </a:rPr>
              <a:t>rmers</a:t>
            </a:r>
            <a:r>
              <a:rPr lang="en-US" sz="1900" dirty="0">
                <a:solidFill>
                  <a:schemeClr val="bg1"/>
                </a:solidFill>
                <a:latin typeface="Times New Roman" panose="02020603050405020304" pitchFamily="18" charset="0"/>
                <a:cs typeface="Times New Roman" panose="02020603050405020304" pitchFamily="18" charset="0"/>
              </a:rPr>
              <a:t> often receive lower prices, while customers pay higher prices due to added transportation, storage, and vendor profit margins.</a:t>
            </a:r>
            <a:endParaRPr lang="en-IN" sz="1900" dirty="0">
              <a:solidFill>
                <a:schemeClr val="bg1"/>
              </a:solidFill>
              <a:latin typeface="Times New Roman" panose="02020603050405020304" pitchFamily="18" charset="0"/>
              <a:cs typeface="Times New Roman" panose="02020603050405020304" pitchFamily="18" charset="0"/>
            </a:endParaRPr>
          </a:p>
          <a:p>
            <a:pPr marL="342900" indent="-342900" algn="just">
              <a:buFont typeface="Wingdings"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There is also limited transparency about product freshness, organic quality and</a:t>
            </a:r>
            <a:r>
              <a:rPr lang="en-IN" sz="1900" dirty="0">
                <a:solidFill>
                  <a:schemeClr val="bg1"/>
                </a:solidFill>
                <a:latin typeface="Times New Roman" panose="02020603050405020304" pitchFamily="18" charset="0"/>
                <a:cs typeface="Times New Roman" panose="02020603050405020304" pitchFamily="18" charset="0"/>
              </a:rPr>
              <a:t> </a:t>
            </a:r>
            <a:r>
              <a:rPr lang="en-US" sz="1900" dirty="0">
                <a:solidFill>
                  <a:schemeClr val="bg1"/>
                </a:solidFill>
                <a:latin typeface="Times New Roman" panose="02020603050405020304" pitchFamily="18" charset="0"/>
                <a:cs typeface="Times New Roman" panose="02020603050405020304" pitchFamily="18" charset="0"/>
              </a:rPr>
              <a:t>source of origin.</a:t>
            </a:r>
            <a:endParaRPr lang="en-IN" sz="1900" dirty="0">
              <a:solidFill>
                <a:schemeClr val="bg1"/>
              </a:solidFill>
              <a:latin typeface="Times New Roman" panose="02020603050405020304" pitchFamily="18" charset="0"/>
              <a:cs typeface="Times New Roman" panose="02020603050405020304" pitchFamily="18" charset="0"/>
            </a:endParaRPr>
          </a:p>
        </p:txBody>
      </p:sp>
      <p:sp>
        <p:nvSpPr>
          <p:cNvPr id="3" name="Ribbon: Tilted Down 2">
            <a:extLst>
              <a:ext uri="{FF2B5EF4-FFF2-40B4-BE49-F238E27FC236}">
                <a16:creationId xmlns:a16="http://schemas.microsoft.com/office/drawing/2014/main" id="{21B5B3C5-3947-E08A-BAFD-595843B7ECF4}"/>
              </a:ext>
            </a:extLst>
          </p:cNvPr>
          <p:cNvSpPr/>
          <p:nvPr/>
        </p:nvSpPr>
        <p:spPr>
          <a:xfrm>
            <a:off x="4047634" y="667750"/>
            <a:ext cx="4096732" cy="705461"/>
          </a:xfrm>
          <a:prstGeom prst="ribbon">
            <a:avLst>
              <a:gd name="adj1" fmla="val 33333"/>
              <a:gd name="adj2" fmla="val 75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338AA7D-CF84-127A-250E-D12FB2A7E824}"/>
              </a:ext>
            </a:extLst>
          </p:cNvPr>
          <p:cNvSpPr txBox="1"/>
          <p:nvPr/>
        </p:nvSpPr>
        <p:spPr>
          <a:xfrm>
            <a:off x="2278226" y="863613"/>
            <a:ext cx="7560840" cy="523220"/>
          </a:xfrm>
          <a:prstGeom prst="rect">
            <a:avLst/>
          </a:prstGeom>
          <a:noFill/>
        </p:spPr>
        <p:txBody>
          <a:bodyPr wrap="square" rtlCol="0">
            <a:spAutoFit/>
          </a:bodyPr>
          <a:lstStyle/>
          <a:p>
            <a:pPr algn="ctr"/>
            <a:r>
              <a:rPr lang="en-US" sz="2800" b="1" i="1" dirty="0">
                <a:latin typeface="Times New Roman" panose="02020603050405020304" pitchFamily="18" charset="0"/>
                <a:cs typeface="Times New Roman" panose="02020603050405020304" pitchFamily="18" charset="0"/>
              </a:rPr>
              <a:t>Existing</a:t>
            </a:r>
            <a:r>
              <a:rPr lang="en-IN" sz="2800" b="1" i="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System</a:t>
            </a:r>
          </a:p>
        </p:txBody>
      </p:sp>
      <p:sp>
        <p:nvSpPr>
          <p:cNvPr id="14" name="TextBox 13">
            <a:extLst>
              <a:ext uri="{FF2B5EF4-FFF2-40B4-BE49-F238E27FC236}">
                <a16:creationId xmlns:a16="http://schemas.microsoft.com/office/drawing/2014/main" id="{C8040AB9-7037-F4A0-7F77-7895F4371B56}"/>
              </a:ext>
            </a:extLst>
          </p:cNvPr>
          <p:cNvSpPr txBox="1"/>
          <p:nvPr/>
        </p:nvSpPr>
        <p:spPr>
          <a:xfrm>
            <a:off x="1014575" y="4133942"/>
            <a:ext cx="7560839" cy="38472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900" b="1" i="1" dirty="0">
                <a:solidFill>
                  <a:schemeClr val="bg1"/>
                </a:solidFill>
                <a:latin typeface="Times New Roman" panose="02020603050405020304" pitchFamily="18" charset="0"/>
                <a:cs typeface="Times New Roman" panose="02020603050405020304" pitchFamily="18" charset="0"/>
              </a:rPr>
              <a:t>Drawbacks :</a:t>
            </a:r>
          </a:p>
        </p:txBody>
      </p:sp>
    </p:spTree>
    <p:extLst>
      <p:ext uri="{BB962C8B-B14F-4D97-AF65-F5344CB8AC3E}">
        <p14:creationId xmlns:p14="http://schemas.microsoft.com/office/powerpoint/2010/main" val="3273863243"/>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CA6BD71-192E-D4E5-D8A9-990E769853BC}"/>
              </a:ext>
            </a:extLst>
          </p:cNvPr>
          <p:cNvSpPr txBox="1"/>
          <p:nvPr/>
        </p:nvSpPr>
        <p:spPr>
          <a:xfrm>
            <a:off x="1009594" y="1849899"/>
            <a:ext cx="7560840" cy="3308598"/>
          </a:xfrm>
          <a:prstGeom prst="rect">
            <a:avLst/>
          </a:prstGeom>
          <a:noFill/>
        </p:spPr>
        <p:txBody>
          <a:bodyPr wrap="square">
            <a:spAutoFit/>
          </a:bodyPr>
          <a:lstStyle/>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This is a smart digital platform that directly connects farmers and customers. </a:t>
            </a:r>
          </a:p>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It removes middlemen and ensures fair pricing for farmers and affordable organic products for customers. </a:t>
            </a:r>
          </a:p>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The platform uses machine learning for demand prediction,</a:t>
            </a:r>
            <a:r>
              <a:rPr lang="en-IN" sz="1900" dirty="0">
                <a:solidFill>
                  <a:schemeClr val="bg1"/>
                </a:solidFill>
                <a:latin typeface="Times New Roman" panose="02020603050405020304" pitchFamily="18" charset="0"/>
                <a:cs typeface="Times New Roman" panose="02020603050405020304" pitchFamily="18" charset="0"/>
              </a:rPr>
              <a:t> </a:t>
            </a:r>
            <a:r>
              <a:rPr lang="en-US" sz="1900" dirty="0">
                <a:solidFill>
                  <a:schemeClr val="bg1"/>
                </a:solidFill>
                <a:latin typeface="Times New Roman" panose="02020603050405020304" pitchFamily="18" charset="0"/>
                <a:cs typeface="Times New Roman" panose="02020603050405020304" pitchFamily="18" charset="0"/>
              </a:rPr>
              <a:t>crop suggestions and weather-based farming guidance. </a:t>
            </a:r>
          </a:p>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It includes voice-based multilingual support for easy access by rural farmers. </a:t>
            </a:r>
          </a:p>
          <a:p>
            <a:pPr marL="285750" indent="-285750" algn="just">
              <a:buFont typeface="Wingdings" panose="05000000000000000000" pitchFamily="2" charset="2"/>
              <a:buChar char="Ø"/>
            </a:pPr>
            <a:r>
              <a:rPr lang="en-US" sz="1900" dirty="0">
                <a:solidFill>
                  <a:schemeClr val="bg1"/>
                </a:solidFill>
                <a:latin typeface="Times New Roman" panose="02020603050405020304" pitchFamily="18" charset="0"/>
                <a:cs typeface="Times New Roman" panose="02020603050405020304" pitchFamily="18" charset="0"/>
              </a:rPr>
              <a:t>Additional features include AI farmer assistant, smart delivery </a:t>
            </a:r>
            <a:r>
              <a:rPr lang="en-US" sz="1900" dirty="0" err="1">
                <a:solidFill>
                  <a:schemeClr val="bg1"/>
                </a:solidFill>
                <a:latin typeface="Times New Roman" panose="02020603050405020304" pitchFamily="18" charset="0"/>
                <a:cs typeface="Times New Roman" panose="02020603050405020304" pitchFamily="18" charset="0"/>
              </a:rPr>
              <a:t>routing,trust</a:t>
            </a:r>
            <a:r>
              <a:rPr lang="en-US" sz="1900" dirty="0">
                <a:solidFill>
                  <a:schemeClr val="bg1"/>
                </a:solidFill>
                <a:latin typeface="Times New Roman" panose="02020603050405020304" pitchFamily="18" charset="0"/>
                <a:cs typeface="Times New Roman" panose="02020603050405020304" pitchFamily="18" charset="0"/>
              </a:rPr>
              <a:t> score for farmers, and community group buying to reduce costs further.</a:t>
            </a:r>
            <a:endParaRPr lang="en-IN" sz="1900" dirty="0">
              <a:solidFill>
                <a:schemeClr val="bg1"/>
              </a:solidFill>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8141BF63-AC37-DD5D-4AC7-118C915EC8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43937" y="2511447"/>
            <a:ext cx="2539668" cy="169311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6" name="Ribbon: Tilted Up 15">
            <a:extLst>
              <a:ext uri="{FF2B5EF4-FFF2-40B4-BE49-F238E27FC236}">
                <a16:creationId xmlns:a16="http://schemas.microsoft.com/office/drawing/2014/main" id="{874020F9-45AD-B5A0-D79A-D792B6AA5A86}"/>
              </a:ext>
            </a:extLst>
          </p:cNvPr>
          <p:cNvSpPr/>
          <p:nvPr/>
        </p:nvSpPr>
        <p:spPr>
          <a:xfrm>
            <a:off x="3976437" y="919983"/>
            <a:ext cx="4164418" cy="716219"/>
          </a:xfrm>
          <a:prstGeom prst="ribbon2">
            <a:avLst>
              <a:gd name="adj1" fmla="val 33333"/>
              <a:gd name="adj2" fmla="val 72022"/>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9CC2074-E112-71E0-F266-507C6CC8E2A2}"/>
              </a:ext>
            </a:extLst>
          </p:cNvPr>
          <p:cNvSpPr txBox="1"/>
          <p:nvPr/>
        </p:nvSpPr>
        <p:spPr>
          <a:xfrm>
            <a:off x="2278226" y="840132"/>
            <a:ext cx="7560840"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b="1" i="1" u="sng" dirty="0">
                <a:latin typeface="Times New Roman" panose="02020603050405020304" pitchFamily="18" charset="0"/>
                <a:cs typeface="Times New Roman" panose="02020603050405020304" pitchFamily="18" charset="0"/>
              </a:rPr>
              <a:t>Proposed System</a:t>
            </a:r>
          </a:p>
        </p:txBody>
      </p:sp>
    </p:spTree>
    <p:extLst>
      <p:ext uri="{BB962C8B-B14F-4D97-AF65-F5344CB8AC3E}">
        <p14:creationId xmlns:p14="http://schemas.microsoft.com/office/powerpoint/2010/main" val="425445099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3567EC3-819E-724A-9240-27DD6634DAE2}"/>
              </a:ext>
            </a:extLst>
          </p:cNvPr>
          <p:cNvSpPr txBox="1"/>
          <p:nvPr/>
        </p:nvSpPr>
        <p:spPr>
          <a:xfrm>
            <a:off x="1401180" y="1429578"/>
            <a:ext cx="1828800" cy="369332"/>
          </a:xfrm>
          <a:prstGeom prst="rect">
            <a:avLst/>
          </a:prstGeom>
          <a:noFill/>
        </p:spPr>
        <p:txBody>
          <a:bodyPr wrap="square" rtlCol="0">
            <a:spAutoFit/>
          </a:bodyPr>
          <a:lstStyle/>
          <a:p>
            <a:pPr marL="285750" indent="-285750" algn="l">
              <a:buFont typeface="Wingdings" pitchFamily="2" charset="2"/>
              <a:buChar char="Ø"/>
            </a:pPr>
            <a:r>
              <a:rPr lang="en-IN" b="1" i="1" dirty="0">
                <a:solidFill>
                  <a:schemeClr val="bg1"/>
                </a:solidFill>
                <a:latin typeface="Times New Roman" panose="02020603050405020304" pitchFamily="18" charset="0"/>
                <a:cs typeface="Times New Roman" panose="02020603050405020304" pitchFamily="18" charset="0"/>
              </a:rPr>
              <a:t>Admin</a:t>
            </a:r>
            <a:r>
              <a:rPr lang="en-IN" dirty="0">
                <a:solidFill>
                  <a:schemeClr val="bg1"/>
                </a:solidFill>
              </a:rPr>
              <a:t> :</a:t>
            </a:r>
          </a:p>
        </p:txBody>
      </p:sp>
      <p:sp>
        <p:nvSpPr>
          <p:cNvPr id="7" name="TextBox 6">
            <a:extLst>
              <a:ext uri="{FF2B5EF4-FFF2-40B4-BE49-F238E27FC236}">
                <a16:creationId xmlns:a16="http://schemas.microsoft.com/office/drawing/2014/main" id="{B76EC588-FAA0-6121-9F23-CBA1A072356E}"/>
              </a:ext>
            </a:extLst>
          </p:cNvPr>
          <p:cNvSpPr txBox="1"/>
          <p:nvPr/>
        </p:nvSpPr>
        <p:spPr>
          <a:xfrm>
            <a:off x="1401180" y="2368741"/>
            <a:ext cx="1633870"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itchFamily="2" charset="2"/>
              <a:buChar char="Ø"/>
            </a:pPr>
            <a:r>
              <a:rPr lang="en-IN" b="1" i="1" dirty="0">
                <a:solidFill>
                  <a:schemeClr val="bg1"/>
                </a:solidFill>
                <a:latin typeface="Times New Roman" panose="02020603050405020304" pitchFamily="18" charset="0"/>
                <a:cs typeface="Times New Roman" panose="02020603050405020304" pitchFamily="18" charset="0"/>
              </a:rPr>
              <a:t>Farmer</a:t>
            </a:r>
            <a:r>
              <a:rPr lang="en-IN"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endParaRPr>
          </a:p>
        </p:txBody>
      </p:sp>
      <p:sp>
        <p:nvSpPr>
          <p:cNvPr id="11" name="TextBox 10">
            <a:extLst>
              <a:ext uri="{FF2B5EF4-FFF2-40B4-BE49-F238E27FC236}">
                <a16:creationId xmlns:a16="http://schemas.microsoft.com/office/drawing/2014/main" id="{8C8AE430-FD89-91FC-A52C-0DFCD33EE1D5}"/>
              </a:ext>
            </a:extLst>
          </p:cNvPr>
          <p:cNvSpPr txBox="1"/>
          <p:nvPr/>
        </p:nvSpPr>
        <p:spPr>
          <a:xfrm>
            <a:off x="1401180" y="3495146"/>
            <a:ext cx="1633870" cy="37251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itchFamily="2" charset="2"/>
              <a:buChar char="Ø"/>
            </a:pPr>
            <a:r>
              <a:rPr lang="en-IN" b="1" i="1" dirty="0">
                <a:solidFill>
                  <a:schemeClr val="bg1"/>
                </a:solidFill>
                <a:latin typeface="Times New Roman" panose="02020603050405020304" pitchFamily="18" charset="0"/>
                <a:cs typeface="Times New Roman" panose="02020603050405020304" pitchFamily="18" charset="0"/>
              </a:rPr>
              <a:t>Customer</a:t>
            </a:r>
            <a:r>
              <a:rPr lang="en-IN"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endParaRPr>
          </a:p>
        </p:txBody>
      </p:sp>
      <p:sp>
        <p:nvSpPr>
          <p:cNvPr id="13" name="TextBox 12">
            <a:extLst>
              <a:ext uri="{FF2B5EF4-FFF2-40B4-BE49-F238E27FC236}">
                <a16:creationId xmlns:a16="http://schemas.microsoft.com/office/drawing/2014/main" id="{74EBC661-E400-C95D-F0FE-2D001A2CD1E4}"/>
              </a:ext>
            </a:extLst>
          </p:cNvPr>
          <p:cNvSpPr txBox="1"/>
          <p:nvPr/>
        </p:nvSpPr>
        <p:spPr>
          <a:xfrm>
            <a:off x="2143579" y="1759151"/>
            <a:ext cx="8693357" cy="923330"/>
          </a:xfrm>
          <a:prstGeom prst="rect">
            <a:avLst/>
          </a:prstGeom>
          <a:noFill/>
        </p:spPr>
        <p:txBody>
          <a:bodyPr wrap="square" rtlCol="0">
            <a:spAutoFit/>
          </a:bodyPr>
          <a:lstStyle/>
          <a:p>
            <a:pPr algn="just"/>
            <a:r>
              <a:rPr lang="en-IN" dirty="0">
                <a:solidFill>
                  <a:schemeClr val="bg1"/>
                </a:solidFill>
                <a:latin typeface="Times New Roman" panose="02020603050405020304" pitchFamily="18" charset="0"/>
                <a:cs typeface="Times New Roman" panose="02020603050405020304" pitchFamily="18" charset="0"/>
              </a:rPr>
              <a:t>Identifies and selects trustworthy and dependable farmers.Handles and manages suggestions from both farmers and customers.</a:t>
            </a:r>
          </a:p>
          <a:p>
            <a:pPr algn="just"/>
            <a:endParaRPr lang="en-IN"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F47B0622-2EAB-88A3-2FFC-1BFAE8CC9EE1}"/>
              </a:ext>
            </a:extLst>
          </p:cNvPr>
          <p:cNvSpPr txBox="1"/>
          <p:nvPr/>
        </p:nvSpPr>
        <p:spPr>
          <a:xfrm>
            <a:off x="2143580" y="2697629"/>
            <a:ext cx="8693356" cy="1200329"/>
          </a:xfrm>
          <a:prstGeom prst="rect">
            <a:avLst/>
          </a:prstGeom>
          <a:noFill/>
        </p:spPr>
        <p:txBody>
          <a:bodyPr wrap="square" rtlCol="0">
            <a:spAutoFit/>
          </a:bodyPr>
          <a:lstStyle/>
          <a:p>
            <a:pPr algn="just"/>
            <a:r>
              <a:rPr lang="en-IN" dirty="0">
                <a:solidFill>
                  <a:schemeClr val="bg1"/>
                </a:solidFill>
                <a:latin typeface="Times New Roman" panose="02020603050405020304" pitchFamily="18" charset="0"/>
                <a:cs typeface="Times New Roman" panose="02020603050405020304" pitchFamily="18" charset="0"/>
              </a:rPr>
              <a:t>Adds and manages product details for sale such as price, quantity, and location.Checks recommendations and suggestions provided by the agent for better farming practices and improved income.</a:t>
            </a:r>
          </a:p>
          <a:p>
            <a:pPr algn="just"/>
            <a:endParaRPr lang="en-IN" dirty="0">
              <a:solidFill>
                <a:schemeClr val="bg1"/>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755DD5DB-F7D7-8595-89CB-C3D1695864EF}"/>
              </a:ext>
            </a:extLst>
          </p:cNvPr>
          <p:cNvSpPr txBox="1"/>
          <p:nvPr/>
        </p:nvSpPr>
        <p:spPr>
          <a:xfrm>
            <a:off x="2129924" y="3834842"/>
            <a:ext cx="9070926" cy="923330"/>
          </a:xfrm>
          <a:prstGeom prst="rect">
            <a:avLst/>
          </a:prstGeom>
          <a:noFill/>
        </p:spPr>
        <p:txBody>
          <a:bodyPr wrap="square" rtlCol="0">
            <a:spAutoFit/>
          </a:bodyPr>
          <a:lstStyle/>
          <a:p>
            <a:pPr algn="just"/>
            <a:r>
              <a:rPr lang="en-IN" dirty="0">
                <a:solidFill>
                  <a:schemeClr val="bg1"/>
                </a:solidFill>
                <a:latin typeface="Times New Roman" panose="02020603050405020304" pitchFamily="18" charset="0"/>
                <a:cs typeface="Times New Roman" panose="02020603050405020304" pitchFamily="18" charset="0"/>
              </a:rPr>
              <a:t>Searches for the desired items from farmers and can find the location of fresh farm products.</a:t>
            </a:r>
          </a:p>
          <a:p>
            <a:pPr algn="just"/>
            <a:r>
              <a:rPr lang="en-IN" dirty="0">
                <a:solidFill>
                  <a:schemeClr val="bg1"/>
                </a:solidFill>
                <a:latin typeface="Times New Roman" panose="02020603050405020304" pitchFamily="18" charset="0"/>
                <a:cs typeface="Times New Roman" panose="02020603050405020304" pitchFamily="18" charset="0"/>
              </a:rPr>
              <a:t>Can view details about any offers or suggestions provided by the agent.</a:t>
            </a:r>
          </a:p>
          <a:p>
            <a:pPr algn="l"/>
            <a:endParaRPr lang="en-IN" dirty="0">
              <a:solidFill>
                <a:schemeClr val="bg1"/>
              </a:solidFill>
            </a:endParaRPr>
          </a:p>
        </p:txBody>
      </p:sp>
      <p:sp>
        <p:nvSpPr>
          <p:cNvPr id="14" name="Terminator 13">
            <a:extLst>
              <a:ext uri="{FF2B5EF4-FFF2-40B4-BE49-F238E27FC236}">
                <a16:creationId xmlns:a16="http://schemas.microsoft.com/office/drawing/2014/main" id="{5EE2608A-477D-16F1-710B-9AA857DDADC5}"/>
              </a:ext>
            </a:extLst>
          </p:cNvPr>
          <p:cNvSpPr/>
          <p:nvPr/>
        </p:nvSpPr>
        <p:spPr>
          <a:xfrm>
            <a:off x="4417691" y="803123"/>
            <a:ext cx="3063891" cy="523221"/>
          </a:xfrm>
          <a:prstGeom prst="flowChartTermina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8C32E82-3351-0644-06B1-5A3610582AB3}"/>
              </a:ext>
            </a:extLst>
          </p:cNvPr>
          <p:cNvSpPr txBox="1"/>
          <p:nvPr/>
        </p:nvSpPr>
        <p:spPr>
          <a:xfrm>
            <a:off x="2143579" y="795175"/>
            <a:ext cx="7560840" cy="523220"/>
          </a:xfrm>
          <a:prstGeom prst="rect">
            <a:avLst/>
          </a:prstGeom>
          <a:noFill/>
        </p:spPr>
        <p:txBody>
          <a:bodyPr wrap="square" rtlCol="0">
            <a:spAutoFit/>
          </a:bodyPr>
          <a:lstStyle/>
          <a:p>
            <a:pPr algn="ctr"/>
            <a:r>
              <a:rPr lang="en-IN" sz="2800" b="1" i="1" u="sng" dirty="0">
                <a:latin typeface="Times New Roman" panose="02020603050405020304" pitchFamily="18" charset="0"/>
                <a:cs typeface="Times New Roman" panose="02020603050405020304" pitchFamily="18" charset="0"/>
              </a:rPr>
              <a:t>Module split up</a:t>
            </a:r>
          </a:p>
        </p:txBody>
      </p:sp>
      <p:sp>
        <p:nvSpPr>
          <p:cNvPr id="5" name="TextBox 4">
            <a:extLst>
              <a:ext uri="{FF2B5EF4-FFF2-40B4-BE49-F238E27FC236}">
                <a16:creationId xmlns:a16="http://schemas.microsoft.com/office/drawing/2014/main" id="{253148AC-C70F-8412-7C74-453EB9F193C6}"/>
              </a:ext>
            </a:extLst>
          </p:cNvPr>
          <p:cNvSpPr txBox="1"/>
          <p:nvPr/>
        </p:nvSpPr>
        <p:spPr>
          <a:xfrm>
            <a:off x="1401180" y="4571913"/>
            <a:ext cx="1633870" cy="37251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l">
              <a:buFont typeface="Wingdings" pitchFamily="2" charset="2"/>
              <a:buChar char="Ø"/>
            </a:pPr>
            <a:r>
              <a:rPr lang="en-IN" b="1" i="1" dirty="0">
                <a:solidFill>
                  <a:schemeClr val="bg1"/>
                </a:solidFill>
                <a:latin typeface="Times New Roman" panose="02020603050405020304" pitchFamily="18" charset="0"/>
                <a:cs typeface="Times New Roman" panose="02020603050405020304" pitchFamily="18" charset="0"/>
              </a:rPr>
              <a:t>Agent</a:t>
            </a:r>
            <a:r>
              <a:rPr lang="en-IN" dirty="0">
                <a:solidFill>
                  <a:schemeClr val="bg1"/>
                </a:solidFill>
                <a:latin typeface="Times New Roman" panose="02020603050405020304" pitchFamily="18" charset="0"/>
                <a:cs typeface="Times New Roman" panose="02020603050405020304" pitchFamily="18" charset="0"/>
              </a:rPr>
              <a:t> :</a:t>
            </a:r>
            <a:endParaRPr lang="en-IN" dirty="0">
              <a:solidFill>
                <a:schemeClr val="bg1"/>
              </a:solidFill>
            </a:endParaRPr>
          </a:p>
        </p:txBody>
      </p:sp>
      <p:sp>
        <p:nvSpPr>
          <p:cNvPr id="10" name="TextBox 9">
            <a:extLst>
              <a:ext uri="{FF2B5EF4-FFF2-40B4-BE49-F238E27FC236}">
                <a16:creationId xmlns:a16="http://schemas.microsoft.com/office/drawing/2014/main" id="{7BF7CCB1-104D-036D-F7FC-5AC062AE0E38}"/>
              </a:ext>
            </a:extLst>
          </p:cNvPr>
          <p:cNvSpPr txBox="1"/>
          <p:nvPr/>
        </p:nvSpPr>
        <p:spPr>
          <a:xfrm>
            <a:off x="2129924" y="5020024"/>
            <a:ext cx="9070926" cy="369332"/>
          </a:xfrm>
          <a:prstGeom prst="rect">
            <a:avLst/>
          </a:prstGeom>
          <a:noFill/>
        </p:spPr>
        <p:txBody>
          <a:bodyPr wrap="square" rtlCol="0">
            <a:spAutoFit/>
          </a:bodyPr>
          <a:lstStyle/>
          <a:p>
            <a:pPr algn="just"/>
            <a:r>
              <a:rPr lang="en-IN" dirty="0">
                <a:solidFill>
                  <a:schemeClr val="bg1"/>
                </a:solidFill>
                <a:latin typeface="Times New Roman" panose="02020603050405020304" pitchFamily="18" charset="0"/>
                <a:cs typeface="Times New Roman" panose="02020603050405020304" pitchFamily="18" charset="0"/>
              </a:rPr>
              <a:t>Collects farm products from farmer and delivers to customers directly </a:t>
            </a:r>
            <a:endParaRPr lang="en-IN" dirty="0">
              <a:solidFill>
                <a:schemeClr val="bg1"/>
              </a:solidFill>
            </a:endParaRPr>
          </a:p>
        </p:txBody>
      </p:sp>
    </p:spTree>
    <p:extLst>
      <p:ext uri="{BB962C8B-B14F-4D97-AF65-F5344CB8AC3E}">
        <p14:creationId xmlns:p14="http://schemas.microsoft.com/office/powerpoint/2010/main" val="374449286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3567EC3-819E-724A-9240-27DD6634DAE2}"/>
              </a:ext>
            </a:extLst>
          </p:cNvPr>
          <p:cNvSpPr txBox="1"/>
          <p:nvPr/>
        </p:nvSpPr>
        <p:spPr>
          <a:xfrm>
            <a:off x="1239652" y="848565"/>
            <a:ext cx="4017555" cy="384721"/>
          </a:xfrm>
          <a:prstGeom prst="rect">
            <a:avLst/>
          </a:prstGeom>
          <a:noFill/>
        </p:spPr>
        <p:txBody>
          <a:bodyPr wrap="square" rtlCol="0">
            <a:spAutoFit/>
          </a:bodyPr>
          <a:lstStyle/>
          <a:p>
            <a:pPr algn="l"/>
            <a:r>
              <a:rPr lang="en-IN" sz="1900" b="1" i="1" dirty="0">
                <a:solidFill>
                  <a:schemeClr val="bg1"/>
                </a:solidFill>
                <a:latin typeface="Times New Roman" panose="02020603050405020304" pitchFamily="18" charset="0"/>
                <a:cs typeface="Times New Roman" panose="02020603050405020304" pitchFamily="18" charset="0"/>
              </a:rPr>
              <a:t>Hardware Requirements:</a:t>
            </a:r>
          </a:p>
        </p:txBody>
      </p:sp>
      <p:sp>
        <p:nvSpPr>
          <p:cNvPr id="7" name="TextBox 6">
            <a:extLst>
              <a:ext uri="{FF2B5EF4-FFF2-40B4-BE49-F238E27FC236}">
                <a16:creationId xmlns:a16="http://schemas.microsoft.com/office/drawing/2014/main" id="{B76EC588-FAA0-6121-9F23-CBA1A072356E}"/>
              </a:ext>
            </a:extLst>
          </p:cNvPr>
          <p:cNvSpPr txBox="1"/>
          <p:nvPr/>
        </p:nvSpPr>
        <p:spPr>
          <a:xfrm>
            <a:off x="2153713" y="1255518"/>
            <a:ext cx="8948514" cy="10772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600" b="1" i="0" dirty="0">
                <a:solidFill>
                  <a:schemeClr val="bg1"/>
                </a:solidFill>
                <a:effectLst/>
                <a:latin typeface="Times New Roman" panose="02020603050405020304" pitchFamily="18" charset="0"/>
                <a:cs typeface="Times New Roman" panose="02020603050405020304" pitchFamily="18" charset="0"/>
              </a:rPr>
              <a:t>Development</a:t>
            </a:r>
            <a:r>
              <a:rPr lang="en-IN" sz="1600" i="0" dirty="0">
                <a:solidFill>
                  <a:schemeClr val="bg1"/>
                </a:solidFill>
                <a:effectLst/>
                <a:latin typeface="Times New Roman" panose="02020603050405020304" pitchFamily="18" charset="0"/>
                <a:cs typeface="Times New Roman" panose="02020603050405020304" pitchFamily="18" charset="0"/>
              </a:rPr>
              <a:t> </a:t>
            </a:r>
            <a:r>
              <a:rPr lang="en-IN" sz="1600" b="1" i="0" dirty="0">
                <a:solidFill>
                  <a:schemeClr val="bg1"/>
                </a:solidFill>
                <a:effectLst/>
                <a:latin typeface="Times New Roman" panose="02020603050405020304" pitchFamily="18" charset="0"/>
                <a:cs typeface="Times New Roman" panose="02020603050405020304" pitchFamily="18" charset="0"/>
              </a:rPr>
              <a:t>Hardware</a:t>
            </a:r>
            <a:r>
              <a:rPr lang="en-IN" sz="1600" i="0" dirty="0">
                <a:solidFill>
                  <a:schemeClr val="bg1"/>
                </a:solidFill>
                <a:effectLst/>
                <a:latin typeface="Times New Roman" panose="02020603050405020304" pitchFamily="18" charset="0"/>
                <a:cs typeface="Times New Roman" panose="02020603050405020304" pitchFamily="18" charset="0"/>
              </a:rPr>
              <a:t> : Laptop or Desktop Computer</a:t>
            </a:r>
          </a:p>
          <a:p>
            <a:pPr algn="just"/>
            <a:r>
              <a:rPr lang="en-IN" sz="1600" b="1" i="0" dirty="0">
                <a:solidFill>
                  <a:schemeClr val="bg1"/>
                </a:solidFill>
                <a:effectLst/>
                <a:latin typeface="Times New Roman" panose="02020603050405020304" pitchFamily="18" charset="0"/>
                <a:cs typeface="Times New Roman" panose="02020603050405020304" pitchFamily="18" charset="0"/>
              </a:rPr>
              <a:t>Processor</a:t>
            </a:r>
            <a:r>
              <a:rPr lang="en-IN" sz="1600" i="0" dirty="0">
                <a:solidFill>
                  <a:schemeClr val="bg1"/>
                </a:solidFill>
                <a:effectLst/>
                <a:latin typeface="Times New Roman" panose="02020603050405020304" pitchFamily="18" charset="0"/>
                <a:cs typeface="Times New Roman" panose="02020603050405020304" pitchFamily="18" charset="0"/>
              </a:rPr>
              <a:t>: Intel i5 / AMD </a:t>
            </a:r>
            <a:r>
              <a:rPr lang="en-IN" sz="1600" i="0" dirty="0" err="1">
                <a:solidFill>
                  <a:schemeClr val="bg1"/>
                </a:solidFill>
                <a:effectLst/>
                <a:latin typeface="Times New Roman" panose="02020603050405020304" pitchFamily="18" charset="0"/>
                <a:cs typeface="Times New Roman" panose="02020603050405020304" pitchFamily="18" charset="0"/>
              </a:rPr>
              <a:t>Ryzen</a:t>
            </a:r>
            <a:r>
              <a:rPr lang="en-IN" sz="1600" i="0" dirty="0">
                <a:solidFill>
                  <a:schemeClr val="bg1"/>
                </a:solidFill>
                <a:effectLst/>
                <a:latin typeface="Times New Roman" panose="02020603050405020304" pitchFamily="18" charset="0"/>
                <a:cs typeface="Times New Roman" panose="02020603050405020304" pitchFamily="18" charset="0"/>
              </a:rPr>
              <a:t> 5 or higher</a:t>
            </a:r>
            <a:r>
              <a:rPr lang="en-IN" sz="1600" dirty="0">
                <a:solidFill>
                  <a:schemeClr val="bg1"/>
                </a:solidFill>
                <a:latin typeface="Times New Roman" panose="02020603050405020304" pitchFamily="18" charset="0"/>
                <a:cs typeface="Times New Roman" panose="02020603050405020304" pitchFamily="18" charset="0"/>
              </a:rPr>
              <a:t> </a:t>
            </a:r>
            <a:r>
              <a:rPr lang="en-IN" sz="1600" b="1" i="0" dirty="0">
                <a:solidFill>
                  <a:schemeClr val="bg1"/>
                </a:solidFill>
                <a:effectLst/>
                <a:latin typeface="Times New Roman" panose="02020603050405020304" pitchFamily="18" charset="0"/>
                <a:cs typeface="Times New Roman" panose="02020603050405020304" pitchFamily="18" charset="0"/>
              </a:rPr>
              <a:t>RAM</a:t>
            </a:r>
            <a:r>
              <a:rPr lang="en-IN" sz="1600" i="0" dirty="0">
                <a:solidFill>
                  <a:schemeClr val="bg1"/>
                </a:solidFill>
                <a:effectLst/>
                <a:latin typeface="Times New Roman" panose="02020603050405020304" pitchFamily="18" charset="0"/>
                <a:cs typeface="Times New Roman" panose="02020603050405020304" pitchFamily="18" charset="0"/>
              </a:rPr>
              <a:t>: 8 GB minimum </a:t>
            </a:r>
            <a:r>
              <a:rPr lang="en-IN" sz="1600" b="1" i="0" dirty="0">
                <a:solidFill>
                  <a:schemeClr val="bg1"/>
                </a:solidFill>
                <a:effectLst/>
                <a:latin typeface="Times New Roman" panose="02020603050405020304" pitchFamily="18" charset="0"/>
                <a:cs typeface="Times New Roman" panose="02020603050405020304" pitchFamily="18" charset="0"/>
              </a:rPr>
              <a:t>Storage</a:t>
            </a:r>
            <a:r>
              <a:rPr lang="en-IN" sz="1600" i="0" dirty="0">
                <a:solidFill>
                  <a:schemeClr val="bg1"/>
                </a:solidFill>
                <a:effectLst/>
                <a:latin typeface="Times New Roman" panose="02020603050405020304" pitchFamily="18" charset="0"/>
                <a:cs typeface="Times New Roman" panose="02020603050405020304" pitchFamily="18" charset="0"/>
              </a:rPr>
              <a:t>: 256 GB SSD </a:t>
            </a:r>
            <a:endParaRPr lang="en-IN" sz="1600" dirty="0">
              <a:solidFill>
                <a:schemeClr val="bg1"/>
              </a:solidFill>
              <a:latin typeface="Times New Roman" panose="02020603050405020304" pitchFamily="18" charset="0"/>
              <a:cs typeface="Times New Roman" panose="02020603050405020304" pitchFamily="18" charset="0"/>
            </a:endParaRPr>
          </a:p>
          <a:p>
            <a:pPr algn="just"/>
            <a:r>
              <a:rPr lang="en-IN" sz="1600" i="0" dirty="0">
                <a:solidFill>
                  <a:schemeClr val="bg1"/>
                </a:solidFill>
                <a:effectLst/>
                <a:latin typeface="Times New Roman" panose="02020603050405020304" pitchFamily="18" charset="0"/>
                <a:cs typeface="Times New Roman" panose="02020603050405020304" pitchFamily="18" charset="0"/>
              </a:rPr>
              <a:t>Server Hardware (For Real Deployment), Smartphones (Android / iOS) Tablets</a:t>
            </a:r>
            <a:r>
              <a:rPr lang="en-IN" sz="1600" dirty="0">
                <a:solidFill>
                  <a:schemeClr val="bg1"/>
                </a:solidFill>
                <a:latin typeface="Times New Roman" panose="02020603050405020304" pitchFamily="18" charset="0"/>
                <a:cs typeface="Times New Roman" panose="02020603050405020304" pitchFamily="18" charset="0"/>
              </a:rPr>
              <a:t> </a:t>
            </a:r>
            <a:r>
              <a:rPr lang="en-IN" sz="1600" i="0" dirty="0">
                <a:solidFill>
                  <a:schemeClr val="bg1"/>
                </a:solidFill>
                <a:effectLst/>
                <a:latin typeface="Times New Roman" panose="02020603050405020304" pitchFamily="18" charset="0"/>
                <a:cs typeface="Times New Roman" panose="02020603050405020304" pitchFamily="18" charset="0"/>
              </a:rPr>
              <a:t>Desktop browsers Devices</a:t>
            </a:r>
          </a:p>
          <a:p>
            <a:pPr algn="just"/>
            <a:r>
              <a:rPr lang="en-IN" sz="1600" i="0" dirty="0">
                <a:solidFill>
                  <a:schemeClr val="bg1"/>
                </a:solidFill>
                <a:effectLst/>
                <a:latin typeface="Times New Roman" panose="02020603050405020304" pitchFamily="18" charset="0"/>
                <a:cs typeface="Times New Roman" panose="02020603050405020304" pitchFamily="18" charset="0"/>
              </a:rPr>
              <a:t>Cloud Server / VPS</a:t>
            </a:r>
            <a:r>
              <a:rPr lang="en-IN" sz="1600" dirty="0">
                <a:solidFill>
                  <a:schemeClr val="bg1"/>
                </a:solidFill>
                <a:latin typeface="Times New Roman" panose="02020603050405020304" pitchFamily="18" charset="0"/>
                <a:cs typeface="Times New Roman" panose="02020603050405020304" pitchFamily="18" charset="0"/>
              </a:rPr>
              <a:t> </a:t>
            </a:r>
            <a:r>
              <a:rPr lang="en-IN" sz="1600" i="0" dirty="0">
                <a:solidFill>
                  <a:schemeClr val="bg1"/>
                </a:solidFill>
                <a:effectLst/>
                <a:latin typeface="Times New Roman" panose="02020603050405020304" pitchFamily="18" charset="0"/>
                <a:cs typeface="Times New Roman" panose="02020603050405020304" pitchFamily="18" charset="0"/>
              </a:rPr>
              <a:t>CPU: 2 vCPUs</a:t>
            </a:r>
            <a:r>
              <a:rPr lang="en-IN" sz="1600" dirty="0">
                <a:solidFill>
                  <a:schemeClr val="bg1"/>
                </a:solidFill>
                <a:latin typeface="Times New Roman" panose="02020603050405020304" pitchFamily="18" charset="0"/>
                <a:cs typeface="Times New Roman" panose="02020603050405020304" pitchFamily="18" charset="0"/>
              </a:rPr>
              <a:t> </a:t>
            </a:r>
            <a:r>
              <a:rPr lang="en-IN" sz="1600" i="0" dirty="0">
                <a:solidFill>
                  <a:schemeClr val="bg1"/>
                </a:solidFill>
                <a:effectLst/>
                <a:latin typeface="Times New Roman" panose="02020603050405020304" pitchFamily="18" charset="0"/>
                <a:cs typeface="Times New Roman" panose="02020603050405020304" pitchFamily="18" charset="0"/>
              </a:rPr>
              <a:t>RAM: 4 GB</a:t>
            </a:r>
            <a:r>
              <a:rPr lang="en-IN" sz="1600" dirty="0">
                <a:solidFill>
                  <a:schemeClr val="bg1"/>
                </a:solidFill>
                <a:latin typeface="Times New Roman" panose="02020603050405020304" pitchFamily="18" charset="0"/>
                <a:cs typeface="Times New Roman" panose="02020603050405020304" pitchFamily="18" charset="0"/>
              </a:rPr>
              <a:t> </a:t>
            </a:r>
            <a:r>
              <a:rPr lang="en-IN" sz="1600" i="0" dirty="0">
                <a:solidFill>
                  <a:schemeClr val="bg1"/>
                </a:solidFill>
                <a:effectLst/>
                <a:latin typeface="Times New Roman" panose="02020603050405020304" pitchFamily="18" charset="0"/>
                <a:cs typeface="Times New Roman" panose="02020603050405020304" pitchFamily="18" charset="0"/>
              </a:rPr>
              <a:t>Storage: 50 GB SSD</a:t>
            </a:r>
            <a:r>
              <a:rPr lang="en-IN" sz="1600" dirty="0">
                <a:solidFill>
                  <a:schemeClr val="bg1"/>
                </a:solidFill>
                <a:latin typeface="Times New Roman" panose="02020603050405020304" pitchFamily="18" charset="0"/>
                <a:cs typeface="Times New Roman" panose="02020603050405020304" pitchFamily="18" charset="0"/>
              </a:rPr>
              <a:t> </a:t>
            </a:r>
            <a:r>
              <a:rPr lang="en-IN" sz="1600" i="0" dirty="0">
                <a:solidFill>
                  <a:schemeClr val="bg1"/>
                </a:solidFill>
                <a:effectLst/>
                <a:latin typeface="Times New Roman" panose="02020603050405020304" pitchFamily="18" charset="0"/>
                <a:cs typeface="Times New Roman" panose="02020603050405020304" pitchFamily="18" charset="0"/>
              </a:rPr>
              <a:t>Network: High-speed internet</a:t>
            </a:r>
            <a:endParaRPr lang="en-IN" sz="1600"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48258A4-7A36-62F5-0905-D9447DE6614E}"/>
              </a:ext>
            </a:extLst>
          </p:cNvPr>
          <p:cNvSpPr txBox="1"/>
          <p:nvPr/>
        </p:nvSpPr>
        <p:spPr>
          <a:xfrm>
            <a:off x="1239653" y="2862799"/>
            <a:ext cx="4017555" cy="38472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IN" sz="1900" b="1" i="1" dirty="0">
                <a:solidFill>
                  <a:schemeClr val="bg1"/>
                </a:solidFill>
                <a:latin typeface="Times New Roman" panose="02020603050405020304" pitchFamily="18" charset="0"/>
                <a:cs typeface="Times New Roman" panose="02020603050405020304" pitchFamily="18" charset="0"/>
              </a:rPr>
              <a:t>Software Requirements :</a:t>
            </a:r>
            <a:endParaRPr lang="en-IN" sz="1900" b="1" i="1" dirty="0">
              <a:solidFill>
                <a:schemeClr val="bg1"/>
              </a:solidFill>
            </a:endParaRPr>
          </a:p>
        </p:txBody>
      </p:sp>
      <p:sp>
        <p:nvSpPr>
          <p:cNvPr id="10" name="TextBox 9">
            <a:extLst>
              <a:ext uri="{FF2B5EF4-FFF2-40B4-BE49-F238E27FC236}">
                <a16:creationId xmlns:a16="http://schemas.microsoft.com/office/drawing/2014/main" id="{5E2C132F-DA99-D5D2-2019-313A3C4B3815}"/>
              </a:ext>
            </a:extLst>
          </p:cNvPr>
          <p:cNvSpPr txBox="1"/>
          <p:nvPr/>
        </p:nvSpPr>
        <p:spPr>
          <a:xfrm>
            <a:off x="2153712" y="3209049"/>
            <a:ext cx="7827625" cy="246221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IN" sz="1400" i="0" dirty="0">
                <a:solidFill>
                  <a:schemeClr val="bg1"/>
                </a:solidFill>
                <a:effectLst/>
                <a:latin typeface="Times New Roman" panose="02020603050405020304" pitchFamily="18" charset="0"/>
                <a:cs typeface="Times New Roman" panose="02020603050405020304" pitchFamily="18" charset="0"/>
              </a:rPr>
              <a:t>Operating System: Windows 10 / Windows 11 macOS Linux (Ubuntu recommended)</a:t>
            </a:r>
          </a:p>
          <a:p>
            <a:pPr algn="just"/>
            <a:r>
              <a:rPr lang="en-IN" sz="1400" i="0" dirty="0">
                <a:solidFill>
                  <a:schemeClr val="bg1"/>
                </a:solidFill>
                <a:effectLst/>
                <a:latin typeface="Times New Roman" panose="02020603050405020304" pitchFamily="18" charset="0"/>
                <a:cs typeface="Times New Roman" panose="02020603050405020304" pitchFamily="18" charset="0"/>
              </a:rPr>
              <a:t>Development Tools :Visual Studio Code</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Git,</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err="1">
                <a:solidFill>
                  <a:schemeClr val="bg1"/>
                </a:solidFill>
                <a:effectLst/>
                <a:latin typeface="Times New Roman" panose="02020603050405020304" pitchFamily="18" charset="0"/>
                <a:cs typeface="Times New Roman" panose="02020603050405020304" pitchFamily="18" charset="0"/>
              </a:rPr>
              <a:t>Node.js</a:t>
            </a:r>
            <a:r>
              <a:rPr lang="en-IN" sz="1400" i="0" dirty="0">
                <a:solidFill>
                  <a:schemeClr val="bg1"/>
                </a:solidFill>
                <a:effectLst/>
                <a:latin typeface="Times New Roman" panose="02020603050405020304" pitchFamily="18" charset="0"/>
                <a:cs typeface="Times New Roman" panose="02020603050405020304" pitchFamily="18" charset="0"/>
              </a:rPr>
              <a:t>,</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err="1">
                <a:solidFill>
                  <a:schemeClr val="bg1"/>
                </a:solidFill>
                <a:effectLst/>
                <a:latin typeface="Times New Roman" panose="02020603050405020304" pitchFamily="18" charset="0"/>
                <a:cs typeface="Times New Roman" panose="02020603050405020304" pitchFamily="18" charset="0"/>
              </a:rPr>
              <a:t>npm</a:t>
            </a:r>
            <a:endParaRPr lang="en-IN" sz="1400" i="0" dirty="0">
              <a:solidFill>
                <a:schemeClr val="bg1"/>
              </a:solidFill>
              <a:effectLst/>
              <a:latin typeface="Times New Roman" panose="02020603050405020304" pitchFamily="18" charset="0"/>
              <a:cs typeface="Times New Roman" panose="02020603050405020304" pitchFamily="18" charset="0"/>
            </a:endParaRPr>
          </a:p>
          <a:p>
            <a:pPr algn="just"/>
            <a:r>
              <a:rPr lang="en-IN" sz="1400" i="0" dirty="0">
                <a:solidFill>
                  <a:schemeClr val="bg1"/>
                </a:solidFill>
                <a:effectLst/>
                <a:latin typeface="Times New Roman" panose="02020603050405020304" pitchFamily="18" charset="0"/>
                <a:cs typeface="Times New Roman" panose="02020603050405020304" pitchFamily="18" charset="0"/>
              </a:rPr>
              <a:t>Frontend And BackendTechnologies : React</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HTML5</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CSS3</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JavaScript</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Tailwind CSS</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err="1">
                <a:solidFill>
                  <a:schemeClr val="bg1"/>
                </a:solidFill>
                <a:effectLst/>
                <a:latin typeface="Times New Roman" panose="02020603050405020304" pitchFamily="18" charset="0"/>
                <a:cs typeface="Times New Roman" panose="02020603050405020304" pitchFamily="18" charset="0"/>
              </a:rPr>
              <a:t>Node.js</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err="1">
                <a:solidFill>
                  <a:schemeClr val="bg1"/>
                </a:solidFill>
                <a:effectLst/>
                <a:latin typeface="Times New Roman" panose="02020603050405020304" pitchFamily="18" charset="0"/>
                <a:cs typeface="Times New Roman" panose="02020603050405020304" pitchFamily="18" charset="0"/>
              </a:rPr>
              <a:t>Express.js</a:t>
            </a:r>
            <a:endParaRPr lang="en-IN" sz="1400" i="0" dirty="0">
              <a:solidFill>
                <a:schemeClr val="bg1"/>
              </a:solidFill>
              <a:effectLst/>
              <a:latin typeface="Times New Roman" panose="02020603050405020304" pitchFamily="18" charset="0"/>
              <a:cs typeface="Times New Roman" panose="02020603050405020304" pitchFamily="18" charset="0"/>
            </a:endParaRPr>
          </a:p>
          <a:p>
            <a:pPr algn="just"/>
            <a:r>
              <a:rPr lang="en-IN" sz="1400" i="0" dirty="0">
                <a:solidFill>
                  <a:schemeClr val="bg1"/>
                </a:solidFill>
                <a:effectLst/>
                <a:latin typeface="Times New Roman" panose="02020603050405020304" pitchFamily="18" charset="0"/>
                <a:cs typeface="Times New Roman" panose="02020603050405020304" pitchFamily="18" charset="0"/>
              </a:rPr>
              <a:t>Database:MongoDBCompass (Primary database) MongoDB Atlas (Cloud database option)</a:t>
            </a:r>
          </a:p>
          <a:p>
            <a:pPr algn="just"/>
            <a:r>
              <a:rPr lang="en-IN" sz="1400" i="0" dirty="0">
                <a:solidFill>
                  <a:schemeClr val="bg1"/>
                </a:solidFill>
                <a:effectLst/>
                <a:latin typeface="Times New Roman" panose="02020603050405020304" pitchFamily="18" charset="0"/>
                <a:cs typeface="Times New Roman" panose="02020603050405020304" pitchFamily="18" charset="0"/>
              </a:rPr>
              <a:t>APIs and Integrations : Google Maps Platform – Location and delivery routing Web Speech API – Voice input and voice commands </a:t>
            </a:r>
            <a:r>
              <a:rPr lang="en-IN" sz="1400" i="0" dirty="0" err="1">
                <a:solidFill>
                  <a:schemeClr val="bg1"/>
                </a:solidFill>
                <a:effectLst/>
                <a:latin typeface="Times New Roman" panose="02020603050405020304" pitchFamily="18" charset="0"/>
                <a:cs typeface="Times New Roman" panose="02020603050405020304" pitchFamily="18" charset="0"/>
              </a:rPr>
              <a:t>Open-Meteo</a:t>
            </a:r>
            <a:r>
              <a:rPr lang="en-IN" sz="1400" i="0" dirty="0">
                <a:solidFill>
                  <a:schemeClr val="bg1"/>
                </a:solidFill>
                <a:effectLst/>
                <a:latin typeface="Times New Roman" panose="02020603050405020304" pitchFamily="18" charset="0"/>
                <a:cs typeface="Times New Roman" panose="02020603050405020304" pitchFamily="18" charset="0"/>
              </a:rPr>
              <a:t> – Weather based crop suggestions </a:t>
            </a:r>
            <a:r>
              <a:rPr lang="en-IN" sz="1400" i="0" dirty="0" err="1">
                <a:solidFill>
                  <a:schemeClr val="bg1"/>
                </a:solidFill>
                <a:effectLst/>
                <a:latin typeface="Times New Roman" panose="02020603050405020304" pitchFamily="18" charset="0"/>
                <a:cs typeface="Times New Roman" panose="02020603050405020304" pitchFamily="18" charset="0"/>
              </a:rPr>
              <a:t>Twilio</a:t>
            </a:r>
            <a:r>
              <a:rPr lang="en-IN" sz="1400" i="0" dirty="0">
                <a:solidFill>
                  <a:schemeClr val="bg1"/>
                </a:solidFill>
                <a:effectLst/>
                <a:latin typeface="Times New Roman" panose="02020603050405020304" pitchFamily="18" charset="0"/>
                <a:cs typeface="Times New Roman" panose="02020603050405020304" pitchFamily="18" charset="0"/>
              </a:rPr>
              <a:t> – SMS verification SendGrid – Email verification</a:t>
            </a:r>
          </a:p>
          <a:p>
            <a:pPr algn="just"/>
            <a:r>
              <a:rPr lang="en-IN" sz="1400" i="0" dirty="0">
                <a:solidFill>
                  <a:schemeClr val="bg1"/>
                </a:solidFill>
                <a:effectLst/>
                <a:latin typeface="Times New Roman" panose="02020603050405020304" pitchFamily="18" charset="0"/>
                <a:cs typeface="Times New Roman" panose="02020603050405020304" pitchFamily="18" charset="0"/>
              </a:rPr>
              <a:t>Machine Learning Tools Python</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err="1">
                <a:solidFill>
                  <a:schemeClr val="bg1"/>
                </a:solidFill>
                <a:effectLst/>
                <a:latin typeface="Times New Roman" panose="02020603050405020304" pitchFamily="18" charset="0"/>
                <a:cs typeface="Times New Roman" panose="02020603050405020304" pitchFamily="18" charset="0"/>
              </a:rPr>
              <a:t>Scikit-learn</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TensorFlow</a:t>
            </a:r>
          </a:p>
          <a:p>
            <a:pPr algn="just"/>
            <a:r>
              <a:rPr lang="en-IN" sz="1400" i="0" dirty="0">
                <a:solidFill>
                  <a:schemeClr val="bg1"/>
                </a:solidFill>
                <a:effectLst/>
                <a:latin typeface="Times New Roman" panose="02020603050405020304" pitchFamily="18" charset="0"/>
                <a:cs typeface="Times New Roman" panose="02020603050405020304" pitchFamily="18" charset="0"/>
              </a:rPr>
              <a:t>Deployment Platforms: </a:t>
            </a:r>
            <a:r>
              <a:rPr lang="en-IN" sz="1400" i="0" dirty="0" err="1">
                <a:solidFill>
                  <a:schemeClr val="bg1"/>
                </a:solidFill>
                <a:effectLst/>
                <a:latin typeface="Times New Roman" panose="02020603050405020304" pitchFamily="18" charset="0"/>
                <a:cs typeface="Times New Roman" panose="02020603050405020304" pitchFamily="18" charset="0"/>
              </a:rPr>
              <a:t>Vercel</a:t>
            </a:r>
            <a:r>
              <a:rPr lang="en-IN" sz="1400" i="0" dirty="0">
                <a:solidFill>
                  <a:schemeClr val="bg1"/>
                </a:solidFill>
                <a:effectLst/>
                <a:latin typeface="Times New Roman" panose="02020603050405020304" pitchFamily="18" charset="0"/>
                <a:cs typeface="Times New Roman" panose="02020603050405020304" pitchFamily="18" charset="0"/>
              </a:rPr>
              <a:t> – Frontend hosting Render – Backend hosting GitHub – Source code repository</a:t>
            </a:r>
          </a:p>
          <a:p>
            <a:pPr algn="just"/>
            <a:r>
              <a:rPr lang="en-IN" sz="1400" i="0" dirty="0">
                <a:solidFill>
                  <a:schemeClr val="bg1"/>
                </a:solidFill>
                <a:effectLst/>
                <a:latin typeface="Times New Roman" panose="02020603050405020304" pitchFamily="18" charset="0"/>
                <a:cs typeface="Times New Roman" panose="02020603050405020304" pitchFamily="18" charset="0"/>
              </a:rPr>
              <a:t>Web Browser Support Google Chrome</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Mozilla Firefox</a:t>
            </a:r>
            <a:r>
              <a:rPr lang="en-IN" sz="1400" dirty="0">
                <a:solidFill>
                  <a:schemeClr val="bg1"/>
                </a:solidFill>
                <a:latin typeface="Times New Roman" panose="02020603050405020304" pitchFamily="18" charset="0"/>
                <a:cs typeface="Times New Roman" panose="02020603050405020304" pitchFamily="18" charset="0"/>
              </a:rPr>
              <a:t> </a:t>
            </a:r>
            <a:r>
              <a:rPr lang="en-IN" sz="1400" i="0" dirty="0">
                <a:solidFill>
                  <a:schemeClr val="bg1"/>
                </a:solidFill>
                <a:effectLst/>
                <a:latin typeface="Times New Roman" panose="02020603050405020304" pitchFamily="18" charset="0"/>
                <a:cs typeface="Times New Roman" panose="02020603050405020304" pitchFamily="18" charset="0"/>
              </a:rPr>
              <a:t>Microsoft Edge</a:t>
            </a:r>
          </a:p>
        </p:txBody>
      </p:sp>
    </p:spTree>
    <p:extLst>
      <p:ext uri="{BB962C8B-B14F-4D97-AF65-F5344CB8AC3E}">
        <p14:creationId xmlns:p14="http://schemas.microsoft.com/office/powerpoint/2010/main" val="3585699989"/>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2278225" y="740819"/>
            <a:ext cx="7560840" cy="523220"/>
          </a:xfrm>
          <a:prstGeom prst="rect">
            <a:avLst/>
          </a:prstGeom>
          <a:noFill/>
        </p:spPr>
        <p:txBody>
          <a:bodyPr wrap="square" rtlCol="0">
            <a:spAutoFit/>
          </a:bodyPr>
          <a:lstStyle/>
          <a:p>
            <a:pPr algn="ctr"/>
            <a:r>
              <a:rPr lang="en-IN" sz="2800" b="1" i="1" u="sng" dirty="0">
                <a:solidFill>
                  <a:schemeClr val="bg1"/>
                </a:solidFill>
                <a:latin typeface="Times New Roman" panose="02020603050405020304" pitchFamily="18" charset="0"/>
                <a:cs typeface="Times New Roman" panose="02020603050405020304" pitchFamily="18" charset="0"/>
              </a:rPr>
              <a:t>System Architecture</a:t>
            </a:r>
          </a:p>
        </p:txBody>
      </p:sp>
      <p:pic>
        <p:nvPicPr>
          <p:cNvPr id="7" name="Picture 6">
            <a:extLst>
              <a:ext uri="{FF2B5EF4-FFF2-40B4-BE49-F238E27FC236}">
                <a16:creationId xmlns:a16="http://schemas.microsoft.com/office/drawing/2014/main" id="{884C380C-6379-016E-78F3-497A3E69E3AE}"/>
              </a:ext>
            </a:extLst>
          </p:cNvPr>
          <p:cNvPicPr>
            <a:picLocks noChangeAspect="1"/>
          </p:cNvPicPr>
          <p:nvPr/>
        </p:nvPicPr>
        <p:blipFill>
          <a:blip r:embed="rId3"/>
          <a:srcRect/>
          <a:stretch/>
        </p:blipFill>
        <p:spPr>
          <a:xfrm>
            <a:off x="3100030" y="1433637"/>
            <a:ext cx="6317457" cy="4207526"/>
          </a:xfrm>
          <a:prstGeom prst="rect">
            <a:avLst/>
          </a:prstGeom>
          <a:ln w="38100" cap="sq">
            <a:solidFill>
              <a:schemeClr val="bg1"/>
            </a:solidFill>
            <a:prstDash val="solid"/>
            <a:miter lim="800000"/>
          </a:ln>
          <a:effectLst>
            <a:outerShdw blurRad="50800" dist="38100" dir="2700000" algn="tl" rotWithShape="0">
              <a:srgbClr val="000000">
                <a:alpha val="43000"/>
              </a:srgbClr>
            </a:outerShdw>
          </a:effectLst>
        </p:spPr>
      </p:pic>
      <p:sp>
        <p:nvSpPr>
          <p:cNvPr id="3" name="Oval 2">
            <a:extLst>
              <a:ext uri="{FF2B5EF4-FFF2-40B4-BE49-F238E27FC236}">
                <a16:creationId xmlns:a16="http://schemas.microsoft.com/office/drawing/2014/main" id="{7218B398-33EA-AF9B-63CD-C1ECDE2AEA55}"/>
              </a:ext>
            </a:extLst>
          </p:cNvPr>
          <p:cNvSpPr/>
          <p:nvPr/>
        </p:nvSpPr>
        <p:spPr>
          <a:xfrm>
            <a:off x="104554" y="224937"/>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Oval 8">
            <a:extLst>
              <a:ext uri="{FF2B5EF4-FFF2-40B4-BE49-F238E27FC236}">
                <a16:creationId xmlns:a16="http://schemas.microsoft.com/office/drawing/2014/main" id="{E04EE71E-C1DB-67D9-1850-FB29387C3ABB}"/>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3520A4D-D18C-F4E2-099E-20D92A2BCCA2}"/>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9B8BC769-487A-7AF5-3114-DDB27D88CF82}"/>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05301730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2278226" y="730126"/>
            <a:ext cx="7560840" cy="523220"/>
          </a:xfrm>
          <a:prstGeom prst="rect">
            <a:avLst/>
          </a:prstGeom>
          <a:noFill/>
        </p:spPr>
        <p:txBody>
          <a:bodyPr wrap="square" rtlCol="0">
            <a:spAutoFit/>
          </a:bodyPr>
          <a:lstStyle/>
          <a:p>
            <a:pPr algn="ctr"/>
            <a:r>
              <a:rPr lang="en-IN" sz="2800" b="1" i="1" u="sng" dirty="0">
                <a:solidFill>
                  <a:schemeClr val="bg1"/>
                </a:solidFill>
                <a:latin typeface="Times New Roman" panose="02020603050405020304" pitchFamily="18" charset="0"/>
                <a:cs typeface="Times New Roman" panose="02020603050405020304" pitchFamily="18" charset="0"/>
              </a:rPr>
              <a:t>Class diagram</a:t>
            </a:r>
          </a:p>
        </p:txBody>
      </p:sp>
      <p:sp>
        <p:nvSpPr>
          <p:cNvPr id="3" name="Oval 2">
            <a:extLst>
              <a:ext uri="{FF2B5EF4-FFF2-40B4-BE49-F238E27FC236}">
                <a16:creationId xmlns:a16="http://schemas.microsoft.com/office/drawing/2014/main" id="{304EF676-6656-DCD1-C871-E8C2D4C832C2}"/>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48A76AC-4659-8855-E106-7D6DEBE27BDB}"/>
              </a:ext>
            </a:extLst>
          </p:cNvPr>
          <p:cNvSpPr/>
          <p:nvPr/>
        </p:nvSpPr>
        <p:spPr>
          <a:xfrm>
            <a:off x="104554" y="224937"/>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Oval 8">
            <a:extLst>
              <a:ext uri="{FF2B5EF4-FFF2-40B4-BE49-F238E27FC236}">
                <a16:creationId xmlns:a16="http://schemas.microsoft.com/office/drawing/2014/main" id="{B71C5342-A86D-8778-79C3-42738794398C}"/>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3E73D7C2-9226-EC66-898E-85BCEE170A6E}"/>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064D4287-16CD-EB7F-29B7-60F2D8A2EB66}"/>
              </a:ext>
            </a:extLst>
          </p:cNvPr>
          <p:cNvPicPr>
            <a:picLocks noChangeAspect="1"/>
          </p:cNvPicPr>
          <p:nvPr/>
        </p:nvPicPr>
        <p:blipFill>
          <a:blip r:embed="rId3"/>
          <a:srcRect/>
          <a:stretch/>
        </p:blipFill>
        <p:spPr>
          <a:xfrm>
            <a:off x="2687675" y="1501065"/>
            <a:ext cx="6822558" cy="4106037"/>
          </a:xfrm>
          <a:prstGeom prst="rect">
            <a:avLst/>
          </a:prstGeom>
        </p:spPr>
      </p:pic>
    </p:spTree>
    <p:extLst>
      <p:ext uri="{BB962C8B-B14F-4D97-AF65-F5344CB8AC3E}">
        <p14:creationId xmlns:p14="http://schemas.microsoft.com/office/powerpoint/2010/main" val="352780532"/>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805515" y="2708911"/>
            <a:ext cx="7560840" cy="523220"/>
          </a:xfrm>
          <a:prstGeom prst="rect">
            <a:avLst/>
          </a:prstGeom>
          <a:noFill/>
        </p:spPr>
        <p:txBody>
          <a:bodyPr wrap="square" rtlCol="0">
            <a:spAutoFit/>
          </a:bodyPr>
          <a:lstStyle/>
          <a:p>
            <a:pPr algn="ctr"/>
            <a:r>
              <a:rPr lang="en-IN" sz="2800" b="1" i="1" u="sng" dirty="0">
                <a:solidFill>
                  <a:schemeClr val="bg1"/>
                </a:solidFill>
                <a:latin typeface="Times New Roman" panose="02020603050405020304" pitchFamily="18" charset="0"/>
                <a:cs typeface="Times New Roman" panose="02020603050405020304" pitchFamily="18" charset="0"/>
              </a:rPr>
              <a:t>Use case diagram</a:t>
            </a:r>
          </a:p>
        </p:txBody>
      </p:sp>
      <p:sp>
        <p:nvSpPr>
          <p:cNvPr id="3" name="Oval 2">
            <a:extLst>
              <a:ext uri="{FF2B5EF4-FFF2-40B4-BE49-F238E27FC236}">
                <a16:creationId xmlns:a16="http://schemas.microsoft.com/office/drawing/2014/main" id="{304EF676-6656-DCD1-C871-E8C2D4C832C2}"/>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48A76AC-4659-8855-E106-7D6DEBE27BDB}"/>
              </a:ext>
            </a:extLst>
          </p:cNvPr>
          <p:cNvSpPr/>
          <p:nvPr/>
        </p:nvSpPr>
        <p:spPr>
          <a:xfrm>
            <a:off x="104554" y="224937"/>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9DEB128-B795-B760-7E92-57671EC1B83C}"/>
              </a:ext>
            </a:extLst>
          </p:cNvPr>
          <p:cNvPicPr>
            <a:picLocks noChangeAspect="1"/>
          </p:cNvPicPr>
          <p:nvPr/>
        </p:nvPicPr>
        <p:blipFill>
          <a:blip r:embed="rId3"/>
          <a:srcRect l="1491" r="1491"/>
          <a:stretch/>
        </p:blipFill>
        <p:spPr>
          <a:xfrm>
            <a:off x="4961860" y="1183777"/>
            <a:ext cx="5847694" cy="4014364"/>
          </a:xfrm>
          <a:prstGeom prst="rect">
            <a:avLst/>
          </a:prstGeom>
        </p:spPr>
      </p:pic>
      <p:sp>
        <p:nvSpPr>
          <p:cNvPr id="9" name="Oval 8">
            <a:extLst>
              <a:ext uri="{FF2B5EF4-FFF2-40B4-BE49-F238E27FC236}">
                <a16:creationId xmlns:a16="http://schemas.microsoft.com/office/drawing/2014/main" id="{B71C5342-A86D-8778-79C3-42738794398C}"/>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3E73D7C2-9226-EC66-898E-85BCEE170A6E}"/>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88712689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976211" y="2708911"/>
            <a:ext cx="7560840" cy="523220"/>
          </a:xfrm>
          <a:prstGeom prst="rect">
            <a:avLst/>
          </a:prstGeom>
          <a:noFill/>
        </p:spPr>
        <p:txBody>
          <a:bodyPr wrap="square" rtlCol="0">
            <a:spAutoFit/>
          </a:bodyPr>
          <a:lstStyle/>
          <a:p>
            <a:pPr algn="ctr"/>
            <a:r>
              <a:rPr lang="en-IN" sz="2800" b="1" i="1" u="sng" dirty="0">
                <a:solidFill>
                  <a:schemeClr val="bg1"/>
                </a:solidFill>
                <a:latin typeface="Times New Roman" panose="02020603050405020304" pitchFamily="18" charset="0"/>
                <a:cs typeface="Times New Roman" panose="02020603050405020304" pitchFamily="18" charset="0"/>
              </a:rPr>
              <a:t>Activity diagram</a:t>
            </a:r>
          </a:p>
        </p:txBody>
      </p:sp>
      <p:sp>
        <p:nvSpPr>
          <p:cNvPr id="3" name="Oval 2">
            <a:extLst>
              <a:ext uri="{FF2B5EF4-FFF2-40B4-BE49-F238E27FC236}">
                <a16:creationId xmlns:a16="http://schemas.microsoft.com/office/drawing/2014/main" id="{304EF676-6656-DCD1-C871-E8C2D4C832C2}"/>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48A76AC-4659-8855-E106-7D6DEBE27BDB}"/>
              </a:ext>
            </a:extLst>
          </p:cNvPr>
          <p:cNvSpPr/>
          <p:nvPr/>
        </p:nvSpPr>
        <p:spPr>
          <a:xfrm>
            <a:off x="104554" y="224937"/>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9DEB128-B795-B760-7E92-57671EC1B83C}"/>
              </a:ext>
            </a:extLst>
          </p:cNvPr>
          <p:cNvPicPr>
            <a:picLocks noChangeAspect="1"/>
          </p:cNvPicPr>
          <p:nvPr/>
        </p:nvPicPr>
        <p:blipFill>
          <a:blip r:embed="rId3"/>
          <a:srcRect t="6177" b="6177"/>
          <a:stretch/>
        </p:blipFill>
        <p:spPr>
          <a:xfrm>
            <a:off x="4709860" y="1300966"/>
            <a:ext cx="6099694" cy="4015114"/>
          </a:xfrm>
          <a:prstGeom prst="rect">
            <a:avLst/>
          </a:prstGeom>
        </p:spPr>
      </p:pic>
      <p:sp>
        <p:nvSpPr>
          <p:cNvPr id="9" name="Oval 8">
            <a:extLst>
              <a:ext uri="{FF2B5EF4-FFF2-40B4-BE49-F238E27FC236}">
                <a16:creationId xmlns:a16="http://schemas.microsoft.com/office/drawing/2014/main" id="{B71C5342-A86D-8778-79C3-42738794398C}"/>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3E73D7C2-9226-EC66-898E-85BCEE170A6E}"/>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320928004"/>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1009266" y="2708911"/>
            <a:ext cx="7560840" cy="523220"/>
          </a:xfrm>
          <a:prstGeom prst="rect">
            <a:avLst/>
          </a:prstGeom>
          <a:noFill/>
        </p:spPr>
        <p:txBody>
          <a:bodyPr wrap="square" rtlCol="0">
            <a:spAutoFit/>
          </a:bodyPr>
          <a:lstStyle/>
          <a:p>
            <a:pPr algn="ctr"/>
            <a:r>
              <a:rPr lang="en-IN" sz="2800" b="1" i="1" u="sng" dirty="0">
                <a:solidFill>
                  <a:schemeClr val="bg1"/>
                </a:solidFill>
                <a:latin typeface="Times New Roman" panose="02020603050405020304" pitchFamily="18" charset="0"/>
                <a:cs typeface="Times New Roman" panose="02020603050405020304" pitchFamily="18" charset="0"/>
              </a:rPr>
              <a:t>Sequence diagram</a:t>
            </a:r>
          </a:p>
        </p:txBody>
      </p:sp>
      <p:sp>
        <p:nvSpPr>
          <p:cNvPr id="3" name="Oval 2">
            <a:extLst>
              <a:ext uri="{FF2B5EF4-FFF2-40B4-BE49-F238E27FC236}">
                <a16:creationId xmlns:a16="http://schemas.microsoft.com/office/drawing/2014/main" id="{304EF676-6656-DCD1-C871-E8C2D4C832C2}"/>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48A76AC-4659-8855-E106-7D6DEBE27BDB}"/>
              </a:ext>
            </a:extLst>
          </p:cNvPr>
          <p:cNvSpPr/>
          <p:nvPr/>
        </p:nvSpPr>
        <p:spPr>
          <a:xfrm>
            <a:off x="104554" y="224937"/>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9DEB128-B795-B760-7E92-57671EC1B83C}"/>
              </a:ext>
            </a:extLst>
          </p:cNvPr>
          <p:cNvPicPr>
            <a:picLocks noChangeAspect="1"/>
          </p:cNvPicPr>
          <p:nvPr/>
        </p:nvPicPr>
        <p:blipFill>
          <a:blip r:embed="rId3"/>
          <a:srcRect l="2079" r="2079"/>
          <a:stretch/>
        </p:blipFill>
        <p:spPr>
          <a:xfrm>
            <a:off x="4583233" y="1202522"/>
            <a:ext cx="5841313" cy="4059217"/>
          </a:xfrm>
          <a:prstGeom prst="rect">
            <a:avLst/>
          </a:prstGeom>
        </p:spPr>
      </p:pic>
      <p:sp>
        <p:nvSpPr>
          <p:cNvPr id="9" name="Oval 8">
            <a:extLst>
              <a:ext uri="{FF2B5EF4-FFF2-40B4-BE49-F238E27FC236}">
                <a16:creationId xmlns:a16="http://schemas.microsoft.com/office/drawing/2014/main" id="{B71C5342-A86D-8778-79C3-42738794398C}"/>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Oval 12">
            <a:extLst>
              <a:ext uri="{FF2B5EF4-FFF2-40B4-BE49-F238E27FC236}">
                <a16:creationId xmlns:a16="http://schemas.microsoft.com/office/drawing/2014/main" id="{3E73D7C2-9226-EC66-898E-85BCEE170A6E}"/>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1591187705"/>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EFA980-7060-ED39-619C-1FA9B0154F8C}"/>
              </a:ext>
            </a:extLst>
          </p:cNvPr>
          <p:cNvSpPr txBox="1"/>
          <p:nvPr/>
        </p:nvSpPr>
        <p:spPr>
          <a:xfrm>
            <a:off x="2026678" y="706663"/>
            <a:ext cx="7560840" cy="523220"/>
          </a:xfrm>
          <a:prstGeom prst="rect">
            <a:avLst/>
          </a:prstGeom>
          <a:noFill/>
        </p:spPr>
        <p:txBody>
          <a:bodyPr wrap="square" rtlCol="0">
            <a:spAutoFit/>
          </a:bodyPr>
          <a:lstStyle/>
          <a:p>
            <a:pPr algn="ctr"/>
            <a:r>
              <a:rPr lang="en-IN" sz="2800" b="1" i="1" u="sng" dirty="0">
                <a:solidFill>
                  <a:schemeClr val="bg1"/>
                </a:solidFill>
                <a:latin typeface="Times New Roman" panose="02020603050405020304" pitchFamily="18" charset="0"/>
                <a:cs typeface="Times New Roman" panose="02020603050405020304" pitchFamily="18" charset="0"/>
              </a:rPr>
              <a:t>Implementation</a:t>
            </a:r>
          </a:p>
        </p:txBody>
      </p:sp>
      <p:pic>
        <p:nvPicPr>
          <p:cNvPr id="2" name="Picture 1">
            <a:extLst>
              <a:ext uri="{FF2B5EF4-FFF2-40B4-BE49-F238E27FC236}">
                <a16:creationId xmlns:a16="http://schemas.microsoft.com/office/drawing/2014/main" id="{DA42570B-816F-9D29-7028-74C65AC69B6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13261" y="1582127"/>
            <a:ext cx="2587674" cy="1350798"/>
          </a:xfrm>
          <a:prstGeom prst="rect">
            <a:avLst/>
          </a:prstGeom>
        </p:spPr>
      </p:pic>
      <p:sp>
        <p:nvSpPr>
          <p:cNvPr id="7" name="TextBox 6">
            <a:extLst>
              <a:ext uri="{FF2B5EF4-FFF2-40B4-BE49-F238E27FC236}">
                <a16:creationId xmlns:a16="http://schemas.microsoft.com/office/drawing/2014/main" id="{E47891D2-6C37-1BB0-BF6A-7DDC65770CF8}"/>
              </a:ext>
            </a:extLst>
          </p:cNvPr>
          <p:cNvSpPr txBox="1"/>
          <p:nvPr/>
        </p:nvSpPr>
        <p:spPr>
          <a:xfrm>
            <a:off x="1437955" y="3137314"/>
            <a:ext cx="8738286" cy="353943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IN" sz="2800" dirty="0">
                <a:solidFill>
                  <a:schemeClr val="bg1"/>
                </a:solidFill>
                <a:latin typeface="Times New Roman" panose="02020603050405020304" pitchFamily="18" charset="0"/>
                <a:cs typeface="Times New Roman" panose="02020603050405020304" pitchFamily="18" charset="0"/>
              </a:rPr>
              <a:t>Use V S Code to implement this web project</a:t>
            </a:r>
          </a:p>
          <a:p>
            <a:pPr algn="ctr"/>
            <a:r>
              <a:rPr lang="en-IN" sz="2800" dirty="0">
                <a:solidFill>
                  <a:schemeClr val="bg1"/>
                </a:solidFill>
                <a:latin typeface="Times New Roman" panose="02020603050405020304" pitchFamily="18" charset="0"/>
                <a:cs typeface="Times New Roman" panose="02020603050405020304" pitchFamily="18" charset="0"/>
              </a:rPr>
              <a:t>As it as a </a:t>
            </a:r>
            <a:r>
              <a:rPr lang="en-IN" sz="2800">
                <a:solidFill>
                  <a:schemeClr val="bg1"/>
                </a:solidFill>
                <a:latin typeface="Times New Roman" panose="02020603050405020304" pitchFamily="18" charset="0"/>
                <a:cs typeface="Times New Roman" panose="02020603050405020304" pitchFamily="18" charset="0"/>
              </a:rPr>
              <a:t>MERN based project </a:t>
            </a:r>
            <a:r>
              <a:rPr lang="en-IN" sz="2800" dirty="0">
                <a:solidFill>
                  <a:schemeClr val="bg1"/>
                </a:solidFill>
                <a:latin typeface="Times New Roman" panose="02020603050405020304" pitchFamily="18" charset="0"/>
                <a:cs typeface="Times New Roman" panose="02020603050405020304" pitchFamily="18" charset="0"/>
              </a:rPr>
              <a:t>there are three terminals to be used in the project directory </a:t>
            </a:r>
          </a:p>
          <a:p>
            <a:pPr algn="ctr"/>
            <a:r>
              <a:rPr lang="en-IN" sz="2800" dirty="0">
                <a:solidFill>
                  <a:schemeClr val="bg1"/>
                </a:solidFill>
                <a:latin typeface="Times New Roman" panose="02020603050405020304" pitchFamily="18" charset="0"/>
                <a:cs typeface="Times New Roman" panose="02020603050405020304" pitchFamily="18" charset="0"/>
              </a:rPr>
              <a:t>In backend </a:t>
            </a:r>
            <a:r>
              <a:rPr lang="en-IN" sz="2800" dirty="0" err="1">
                <a:solidFill>
                  <a:schemeClr val="bg1"/>
                </a:solidFill>
                <a:latin typeface="Times New Roman" panose="02020603050405020304" pitchFamily="18" charset="0"/>
                <a:cs typeface="Times New Roman" panose="02020603050405020304" pitchFamily="18" charset="0"/>
              </a:rPr>
              <a:t>npm</a:t>
            </a:r>
            <a:r>
              <a:rPr lang="en-IN" sz="2800" dirty="0">
                <a:solidFill>
                  <a:schemeClr val="bg1"/>
                </a:solidFill>
                <a:latin typeface="Times New Roman" panose="02020603050405020304" pitchFamily="18" charset="0"/>
                <a:cs typeface="Times New Roman" panose="02020603050405020304" pitchFamily="18" charset="0"/>
              </a:rPr>
              <a:t> start </a:t>
            </a:r>
          </a:p>
          <a:p>
            <a:pPr algn="ctr"/>
            <a:r>
              <a:rPr lang="en-IN" sz="2800" dirty="0">
                <a:solidFill>
                  <a:schemeClr val="bg1"/>
                </a:solidFill>
                <a:latin typeface="Times New Roman" panose="02020603050405020304" pitchFamily="18" charset="0"/>
                <a:cs typeface="Times New Roman" panose="02020603050405020304" pitchFamily="18" charset="0"/>
              </a:rPr>
              <a:t>Frontend </a:t>
            </a:r>
            <a:r>
              <a:rPr lang="en-IN" sz="2800" dirty="0" err="1">
                <a:solidFill>
                  <a:schemeClr val="bg1"/>
                </a:solidFill>
                <a:latin typeface="Times New Roman" panose="02020603050405020304" pitchFamily="18" charset="0"/>
                <a:cs typeface="Times New Roman" panose="02020603050405020304" pitchFamily="18" charset="0"/>
              </a:rPr>
              <a:t>npm</a:t>
            </a:r>
            <a:r>
              <a:rPr lang="en-IN" sz="2800" dirty="0">
                <a:solidFill>
                  <a:schemeClr val="bg1"/>
                </a:solidFill>
                <a:latin typeface="Times New Roman" panose="02020603050405020304" pitchFamily="18" charset="0"/>
                <a:cs typeface="Times New Roman" panose="02020603050405020304" pitchFamily="18" charset="0"/>
              </a:rPr>
              <a:t> run dev</a:t>
            </a:r>
          </a:p>
          <a:p>
            <a:pPr algn="ctr"/>
            <a:r>
              <a:rPr lang="en-IN" sz="2800" dirty="0" err="1">
                <a:solidFill>
                  <a:schemeClr val="bg1"/>
                </a:solidFill>
                <a:latin typeface="Times New Roman" panose="02020603050405020304" pitchFamily="18" charset="0"/>
                <a:cs typeface="Times New Roman" panose="02020603050405020304" pitchFamily="18" charset="0"/>
              </a:rPr>
              <a:t>Mongod</a:t>
            </a:r>
            <a:endParaRPr lang="en-IN" sz="2800" dirty="0">
              <a:solidFill>
                <a:schemeClr val="bg1"/>
              </a:solidFill>
              <a:latin typeface="Times New Roman" panose="02020603050405020304" pitchFamily="18" charset="0"/>
              <a:cs typeface="Times New Roman" panose="02020603050405020304" pitchFamily="18" charset="0"/>
            </a:endParaRPr>
          </a:p>
          <a:p>
            <a:pPr algn="ctr"/>
            <a:endParaRPr lang="en-IN" sz="2800" dirty="0">
              <a:solidFill>
                <a:schemeClr val="bg1"/>
              </a:solidFill>
              <a:latin typeface="Times New Roman" panose="02020603050405020304" pitchFamily="18" charset="0"/>
              <a:cs typeface="Times New Roman" panose="02020603050405020304" pitchFamily="18" charset="0"/>
            </a:endParaRPr>
          </a:p>
          <a:p>
            <a:pPr algn="ctr"/>
            <a:endParaRPr lang="en-IN" sz="28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1983704"/>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IN" sz="2900" b="1" i="1" u="sng" dirty="0">
                <a:solidFill>
                  <a:schemeClr val="bg1"/>
                </a:solidFill>
                <a:latin typeface="Times New Roman" panose="02020603050405020304" pitchFamily="18" charset="0"/>
                <a:cs typeface="Times New Roman" panose="02020603050405020304" pitchFamily="18" charset="0"/>
              </a:rPr>
              <a:t>Result</a:t>
            </a:r>
            <a:endParaRPr lang="en-US" sz="2900" b="1" i="1" u="sng"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450BD55-0C22-1AA6-5366-0B93DCBCF9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3181" y="1577963"/>
            <a:ext cx="8065151" cy="3702074"/>
          </a:xfrm>
          <a:prstGeom prst="rect">
            <a:avLst/>
          </a:prstGeom>
        </p:spPr>
      </p:pic>
    </p:spTree>
    <p:extLst>
      <p:ext uri="{BB962C8B-B14F-4D97-AF65-F5344CB8AC3E}">
        <p14:creationId xmlns:p14="http://schemas.microsoft.com/office/powerpoint/2010/main" val="3000404237"/>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IN" sz="2900" b="1" i="1" u="sng" dirty="0">
                <a:solidFill>
                  <a:schemeClr val="bg1"/>
                </a:solidFill>
                <a:latin typeface="Times New Roman" panose="02020603050405020304" pitchFamily="18" charset="0"/>
                <a:cs typeface="Times New Roman" panose="02020603050405020304" pitchFamily="18" charset="0"/>
              </a:rPr>
              <a:t>Result</a:t>
            </a:r>
            <a:endParaRPr lang="en-US" sz="2900" b="1" i="1" u="sng"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450BD55-0C22-1AA6-5366-0B93DCBCF916}"/>
              </a:ext>
            </a:extLst>
          </p:cNvPr>
          <p:cNvPicPr>
            <a:picLocks noChangeAspect="1"/>
          </p:cNvPicPr>
          <p:nvPr/>
        </p:nvPicPr>
        <p:blipFill>
          <a:blip r:embed="rId3"/>
          <a:srcRect/>
          <a:stretch/>
        </p:blipFill>
        <p:spPr>
          <a:xfrm>
            <a:off x="1636722" y="1586247"/>
            <a:ext cx="8918556" cy="4074253"/>
          </a:xfrm>
          <a:prstGeom prst="rect">
            <a:avLst/>
          </a:prstGeom>
        </p:spPr>
      </p:pic>
    </p:spTree>
    <p:extLst>
      <p:ext uri="{BB962C8B-B14F-4D97-AF65-F5344CB8AC3E}">
        <p14:creationId xmlns:p14="http://schemas.microsoft.com/office/powerpoint/2010/main" val="257262160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IN" sz="2900" b="1" i="1" u="sng" dirty="0">
                <a:solidFill>
                  <a:schemeClr val="bg1"/>
                </a:solidFill>
                <a:latin typeface="Times New Roman" panose="02020603050405020304" pitchFamily="18" charset="0"/>
                <a:cs typeface="Times New Roman" panose="02020603050405020304" pitchFamily="18" charset="0"/>
              </a:rPr>
              <a:t>Result</a:t>
            </a:r>
            <a:endParaRPr lang="en-US" sz="2900" b="1" i="1" u="sng"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450BD55-0C22-1AA6-5366-0B93DCBCF916}"/>
              </a:ext>
            </a:extLst>
          </p:cNvPr>
          <p:cNvPicPr>
            <a:picLocks noChangeAspect="1"/>
          </p:cNvPicPr>
          <p:nvPr/>
        </p:nvPicPr>
        <p:blipFill>
          <a:blip r:embed="rId3"/>
          <a:srcRect/>
          <a:stretch/>
        </p:blipFill>
        <p:spPr>
          <a:xfrm>
            <a:off x="2039661" y="1790038"/>
            <a:ext cx="8112678" cy="3686421"/>
          </a:xfrm>
          <a:prstGeom prst="rect">
            <a:avLst/>
          </a:prstGeom>
        </p:spPr>
      </p:pic>
    </p:spTree>
    <p:extLst>
      <p:ext uri="{BB962C8B-B14F-4D97-AF65-F5344CB8AC3E}">
        <p14:creationId xmlns:p14="http://schemas.microsoft.com/office/powerpoint/2010/main" val="672051988"/>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IN" sz="2900" b="1" i="1" u="sng" dirty="0">
                <a:solidFill>
                  <a:schemeClr val="bg1"/>
                </a:solidFill>
                <a:latin typeface="Times New Roman" panose="02020603050405020304" pitchFamily="18" charset="0"/>
                <a:cs typeface="Times New Roman" panose="02020603050405020304" pitchFamily="18" charset="0"/>
              </a:rPr>
              <a:t>Result</a:t>
            </a:r>
            <a:endParaRPr lang="en-US" sz="2900" b="1" i="1" u="sng"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450BD55-0C22-1AA6-5366-0B93DCBCF916}"/>
              </a:ext>
            </a:extLst>
          </p:cNvPr>
          <p:cNvPicPr>
            <a:picLocks noChangeAspect="1"/>
          </p:cNvPicPr>
          <p:nvPr/>
        </p:nvPicPr>
        <p:blipFill>
          <a:blip r:embed="rId3"/>
          <a:srcRect/>
          <a:stretch/>
        </p:blipFill>
        <p:spPr>
          <a:xfrm>
            <a:off x="2306792" y="1790038"/>
            <a:ext cx="7578415" cy="3450142"/>
          </a:xfrm>
          <a:prstGeom prst="rect">
            <a:avLst/>
          </a:prstGeom>
        </p:spPr>
      </p:pic>
    </p:spTree>
    <p:extLst>
      <p:ext uri="{BB962C8B-B14F-4D97-AF65-F5344CB8AC3E}">
        <p14:creationId xmlns:p14="http://schemas.microsoft.com/office/powerpoint/2010/main" val="4745314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IN" sz="2900" b="1" i="1" u="sng" dirty="0">
                <a:solidFill>
                  <a:schemeClr val="bg1"/>
                </a:solidFill>
                <a:latin typeface="Times New Roman" panose="02020603050405020304" pitchFamily="18" charset="0"/>
                <a:cs typeface="Times New Roman" panose="02020603050405020304" pitchFamily="18" charset="0"/>
              </a:rPr>
              <a:t>Result</a:t>
            </a:r>
            <a:endParaRPr lang="en-US" sz="2900" b="1" i="1" u="sng"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450BD55-0C22-1AA6-5366-0B93DCBCF916}"/>
              </a:ext>
            </a:extLst>
          </p:cNvPr>
          <p:cNvPicPr>
            <a:picLocks noChangeAspect="1"/>
          </p:cNvPicPr>
          <p:nvPr/>
        </p:nvPicPr>
        <p:blipFill>
          <a:blip r:embed="rId3"/>
          <a:srcRect/>
          <a:stretch/>
        </p:blipFill>
        <p:spPr>
          <a:xfrm>
            <a:off x="2104968" y="1790038"/>
            <a:ext cx="7982063" cy="3622532"/>
          </a:xfrm>
          <a:prstGeom prst="rect">
            <a:avLst/>
          </a:prstGeom>
        </p:spPr>
      </p:pic>
    </p:spTree>
    <p:extLst>
      <p:ext uri="{BB962C8B-B14F-4D97-AF65-F5344CB8AC3E}">
        <p14:creationId xmlns:p14="http://schemas.microsoft.com/office/powerpoint/2010/main" val="325130569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IN" sz="2900" b="1" i="1" u="sng" dirty="0">
                <a:solidFill>
                  <a:schemeClr val="bg1"/>
                </a:solidFill>
                <a:latin typeface="Times New Roman" panose="02020603050405020304" pitchFamily="18" charset="0"/>
                <a:cs typeface="Times New Roman" panose="02020603050405020304" pitchFamily="18" charset="0"/>
              </a:rPr>
              <a:t>Result</a:t>
            </a:r>
            <a:endParaRPr lang="en-US" sz="2900" b="1" i="1" u="sng"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F450BD55-0C22-1AA6-5366-0B93DCBCF916}"/>
              </a:ext>
            </a:extLst>
          </p:cNvPr>
          <p:cNvPicPr>
            <a:picLocks noChangeAspect="1"/>
          </p:cNvPicPr>
          <p:nvPr/>
        </p:nvPicPr>
        <p:blipFill>
          <a:blip r:embed="rId3"/>
          <a:srcRect/>
          <a:stretch/>
        </p:blipFill>
        <p:spPr>
          <a:xfrm>
            <a:off x="2197476" y="1790038"/>
            <a:ext cx="7797047" cy="3592997"/>
          </a:xfrm>
          <a:prstGeom prst="rect">
            <a:avLst/>
          </a:prstGeom>
        </p:spPr>
      </p:pic>
    </p:spTree>
    <p:extLst>
      <p:ext uri="{BB962C8B-B14F-4D97-AF65-F5344CB8AC3E}">
        <p14:creationId xmlns:p14="http://schemas.microsoft.com/office/powerpoint/2010/main" val="2755648860"/>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7412462-CD11-A816-A4D9-F820979647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90837" y="1810446"/>
            <a:ext cx="3823740" cy="21905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9" name="TextBox 8">
            <a:extLst>
              <a:ext uri="{FF2B5EF4-FFF2-40B4-BE49-F238E27FC236}">
                <a16:creationId xmlns:a16="http://schemas.microsoft.com/office/drawing/2014/main" id="{278F7233-1503-1FAA-E332-F0F188ADEAC2}"/>
              </a:ext>
            </a:extLst>
          </p:cNvPr>
          <p:cNvSpPr txBox="1"/>
          <p:nvPr/>
        </p:nvSpPr>
        <p:spPr>
          <a:xfrm>
            <a:off x="1002489" y="4198648"/>
            <a:ext cx="10187021" cy="1261884"/>
          </a:xfrm>
          <a:prstGeom prst="rect">
            <a:avLst/>
          </a:prstGeom>
          <a:noFill/>
        </p:spPr>
        <p:txBody>
          <a:bodyPr wrap="square">
            <a:spAutoFit/>
          </a:bodyPr>
          <a:lstStyle/>
          <a:p>
            <a:pPr algn="just"/>
            <a:r>
              <a:rPr lang="en-US" sz="1900" dirty="0">
                <a:solidFill>
                  <a:schemeClr val="bg1"/>
                </a:solidFill>
                <a:latin typeface="Times New Roman" panose="02020603050405020304" pitchFamily="18" charset="0"/>
                <a:cs typeface="Times New Roman" panose="02020603050405020304" pitchFamily="18" charset="0"/>
              </a:rPr>
              <a:t>This system creates a transparent, technology-driven agricultural marketplace that benefits both farmers and customers. It increases farmer profits, provides affordable organic food. By combining AI, voice technology, and smart logistics. This platform builds a sustainable, trusted, and future-ready farming ecosystem.</a:t>
            </a:r>
            <a:endParaRPr lang="en-IN" sz="19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C086142-A3B4-FFD2-AA95-A4552E22A5F2}"/>
              </a:ext>
            </a:extLst>
          </p:cNvPr>
          <p:cNvSpPr txBox="1"/>
          <p:nvPr/>
        </p:nvSpPr>
        <p:spPr>
          <a:xfrm>
            <a:off x="2287105" y="881621"/>
            <a:ext cx="7560840" cy="553998"/>
          </a:xfrm>
          <a:prstGeom prst="rect">
            <a:avLst/>
          </a:prstGeom>
          <a:noFill/>
        </p:spPr>
        <p:txBody>
          <a:bodyPr wrap="square" rtlCol="0">
            <a:spAutoFit/>
          </a:bodyPr>
          <a:lstStyle/>
          <a:p>
            <a:pPr algn="ctr"/>
            <a:r>
              <a:rPr lang="en-US" sz="2900" b="1" i="1" u="sng" dirty="0">
                <a:solidFill>
                  <a:schemeClr val="bg1"/>
                </a:solidFill>
                <a:latin typeface="Times New Roman" panose="02020603050405020304" pitchFamily="18" charset="0"/>
                <a:cs typeface="Times New Roman" panose="02020603050405020304" pitchFamily="18" charset="0"/>
              </a:rPr>
              <a:t>Conclusion</a:t>
            </a:r>
          </a:p>
        </p:txBody>
      </p:sp>
      <p:pic>
        <p:nvPicPr>
          <p:cNvPr id="3" name="Picture 2">
            <a:extLst>
              <a:ext uri="{FF2B5EF4-FFF2-40B4-BE49-F238E27FC236}">
                <a16:creationId xmlns:a16="http://schemas.microsoft.com/office/drawing/2014/main" id="{826867C7-39CE-D78C-044B-E791B11957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50447" y="1790038"/>
            <a:ext cx="3823741" cy="21905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55873248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78D6161-733C-DD1D-7D3E-918C9A66A99F}"/>
              </a:ext>
            </a:extLst>
          </p:cNvPr>
          <p:cNvSpPr txBox="1"/>
          <p:nvPr/>
        </p:nvSpPr>
        <p:spPr>
          <a:xfrm>
            <a:off x="2315580" y="755412"/>
            <a:ext cx="7560840" cy="523220"/>
          </a:xfrm>
          <a:prstGeom prst="rect">
            <a:avLst/>
          </a:prstGeom>
          <a:noFill/>
        </p:spPr>
        <p:txBody>
          <a:bodyPr wrap="square" rtlCol="0">
            <a:spAutoFit/>
          </a:bodyPr>
          <a:lstStyle/>
          <a:p>
            <a:pPr algn="ctr"/>
            <a:r>
              <a:rPr lang="en-US" sz="2800" b="1" i="1" u="sng" dirty="0">
                <a:solidFill>
                  <a:schemeClr val="bg1"/>
                </a:solidFill>
                <a:latin typeface="Times New Roman" panose="02020603050405020304" pitchFamily="18" charset="0"/>
                <a:cs typeface="Times New Roman" panose="02020603050405020304" pitchFamily="18" charset="0"/>
              </a:rPr>
              <a:t>References</a:t>
            </a:r>
          </a:p>
        </p:txBody>
      </p:sp>
      <p:sp>
        <p:nvSpPr>
          <p:cNvPr id="3" name="TextBox 2">
            <a:extLst>
              <a:ext uri="{FF2B5EF4-FFF2-40B4-BE49-F238E27FC236}">
                <a16:creationId xmlns:a16="http://schemas.microsoft.com/office/drawing/2014/main" id="{BE4718B1-4829-CA59-0730-E00496AEB6A4}"/>
              </a:ext>
            </a:extLst>
          </p:cNvPr>
          <p:cNvSpPr txBox="1"/>
          <p:nvPr/>
        </p:nvSpPr>
        <p:spPr>
          <a:xfrm>
            <a:off x="1542764" y="1469980"/>
            <a:ext cx="10331301" cy="4570482"/>
          </a:xfrm>
          <a:prstGeom prst="rect">
            <a:avLst/>
          </a:prstGeom>
          <a:noFill/>
        </p:spPr>
        <p:txBody>
          <a:bodyPr wrap="square">
            <a:spAutoFit/>
          </a:bodyPr>
          <a:lstStyle/>
          <a:p>
            <a:pPr marL="0" marR="0">
              <a:buNone/>
            </a:pPr>
            <a:r>
              <a:rPr lang="en-IN" sz="1500" b="0" i="0" dirty="0">
                <a:solidFill>
                  <a:schemeClr val="bg1"/>
                </a:solidFill>
                <a:effectLst/>
                <a:latin typeface="Times New Roman" panose="02020603050405020304" pitchFamily="18" charset="0"/>
              </a:rPr>
              <a:t>[1] I. Rahman and </a:t>
            </a:r>
            <a:r>
              <a:rPr lang="en-IN" sz="1500" b="0" i="0" dirty="0" err="1">
                <a:solidFill>
                  <a:schemeClr val="bg1"/>
                </a:solidFill>
                <a:effectLst/>
                <a:latin typeface="Times New Roman" panose="02020603050405020304" pitchFamily="18" charset="0"/>
              </a:rPr>
              <a:t>Riyazulla</a:t>
            </a:r>
            <a:r>
              <a:rPr lang="en-IN" sz="1500" b="0" i="0" dirty="0">
                <a:solidFill>
                  <a:schemeClr val="bg1"/>
                </a:solidFill>
                <a:effectLst/>
                <a:latin typeface="Times New Roman" panose="02020603050405020304" pitchFamily="18" charset="0"/>
              </a:rPr>
              <a:t>, “Farm to Fork,” </a:t>
            </a:r>
            <a:r>
              <a:rPr lang="en-IN" sz="1500" b="0" i="1" dirty="0">
                <a:solidFill>
                  <a:schemeClr val="bg1"/>
                </a:solidFill>
                <a:effectLst/>
                <a:latin typeface="TimesNewRomanPS-ItalicMT"/>
              </a:rPr>
              <a:t>International Journal of Scientific Research in</a:t>
            </a:r>
            <a:endParaRPr lang="en-IN" sz="1500" dirty="0">
              <a:solidFill>
                <a:schemeClr val="bg1"/>
              </a:solidFill>
              <a:effectLst/>
              <a:latin typeface="Times New Roman" panose="02020603050405020304" pitchFamily="18" charset="0"/>
            </a:endParaRPr>
          </a:p>
          <a:p>
            <a:pPr marL="0" marR="0">
              <a:buNone/>
            </a:pPr>
            <a:r>
              <a:rPr lang="en-IN" sz="1500" b="0" i="1" dirty="0">
                <a:solidFill>
                  <a:schemeClr val="bg1"/>
                </a:solidFill>
                <a:effectLst/>
                <a:latin typeface="TimesNewRomanPS-ItalicMT"/>
              </a:rPr>
              <a:t>Engineering and Management (IJSREM)</a:t>
            </a:r>
            <a:r>
              <a:rPr lang="en-IN" sz="1500" b="0" i="0" dirty="0">
                <a:solidFill>
                  <a:schemeClr val="bg1"/>
                </a:solidFill>
                <a:effectLst/>
                <a:latin typeface="Times New Roman" panose="02020603050405020304" pitchFamily="18" charset="0"/>
              </a:rPr>
              <a:t>, vol. 8, pp. 1–6, 2024, </a:t>
            </a:r>
            <a:r>
              <a:rPr lang="en-IN" sz="1500" b="0" i="0" dirty="0" err="1">
                <a:solidFill>
                  <a:schemeClr val="bg1"/>
                </a:solidFill>
                <a:effectLst/>
                <a:latin typeface="Times New Roman" panose="02020603050405020304" pitchFamily="18" charset="0"/>
              </a:rPr>
              <a:t>doi</a:t>
            </a:r>
            <a:r>
              <a:rPr lang="en-IN" sz="1500" b="0" i="0" dirty="0">
                <a:solidFill>
                  <a:schemeClr val="bg1"/>
                </a:solidFill>
                <a:effectLst/>
                <a:latin typeface="Times New Roman" panose="02020603050405020304" pitchFamily="18" charset="0"/>
              </a:rPr>
              <a:t>: 10.55041/IJSREM28019.</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[Online]. Available: </a:t>
            </a:r>
            <a:r>
              <a:rPr lang="en-IN" sz="1500" b="0" i="0" dirty="0">
                <a:solidFill>
                  <a:schemeClr val="bg1"/>
                </a:solidFill>
                <a:effectLst/>
                <a:latin typeface="Times New Roman" panose="02020603050405020304" pitchFamily="18" charset="0"/>
                <a:hlinkClick r:id="rId3"/>
              </a:rPr>
              <a:t>https://</a:t>
            </a:r>
            <a:r>
              <a:rPr lang="en-IN" sz="1500" b="0" i="0" dirty="0" err="1">
                <a:solidFill>
                  <a:schemeClr val="bg1"/>
                </a:solidFill>
                <a:effectLst/>
                <a:latin typeface="Times New Roman" panose="02020603050405020304" pitchFamily="18" charset="0"/>
                <a:hlinkClick r:id="rId3"/>
              </a:rPr>
              <a:t>doi.org</a:t>
            </a:r>
            <a:r>
              <a:rPr lang="en-IN" sz="1500" b="0" i="0" dirty="0">
                <a:solidFill>
                  <a:schemeClr val="bg1"/>
                </a:solidFill>
                <a:effectLst/>
                <a:latin typeface="Times New Roman" panose="02020603050405020304" pitchFamily="18" charset="0"/>
                <a:hlinkClick r:id="rId3"/>
              </a:rPr>
              <a:t>/10.55041/IJSREM28019</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[2] University of Washington Food Systems Program, “Farm-to-Table System Design,”</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University of Washington, Seattle, WA, USA, 2020. [Online]. Available:</a:t>
            </a:r>
            <a:endParaRPr lang="en-IN" sz="1500" dirty="0">
              <a:solidFill>
                <a:schemeClr val="bg1"/>
              </a:solidFill>
              <a:effectLst/>
              <a:latin typeface="Times New Roman" panose="02020603050405020304" pitchFamily="18" charset="0"/>
            </a:endParaRPr>
          </a:p>
          <a:p>
            <a:r>
              <a:rPr lang="en-IN" sz="1800" b="0" i="0" dirty="0">
                <a:solidFill>
                  <a:srgbClr val="0000FF"/>
                </a:solidFill>
                <a:effectLst/>
                <a:latin typeface="Times New Roman" panose="02020603050405020304" pitchFamily="18" charset="0"/>
              </a:rPr>
              <a:t>https://</a:t>
            </a:r>
            <a:r>
              <a:rPr lang="en-IN" sz="1800" b="0" i="0" dirty="0" err="1">
                <a:solidFill>
                  <a:srgbClr val="0000FF"/>
                </a:solidFill>
                <a:effectLst/>
                <a:latin typeface="Times New Roman" panose="02020603050405020304" pitchFamily="18" charset="0"/>
              </a:rPr>
              <a:t>depts.washington.edu</a:t>
            </a:r>
            <a:r>
              <a:rPr lang="en-IN" sz="1800" b="0" i="0" dirty="0">
                <a:solidFill>
                  <a:srgbClr val="0000FF"/>
                </a:solidFill>
                <a:effectLst/>
                <a:latin typeface="Times New Roman" panose="02020603050405020304" pitchFamily="18" charset="0"/>
              </a:rPr>
              <a:t>/f2w/</a:t>
            </a:r>
            <a:r>
              <a:rPr lang="en-IN" sz="1800" b="0" i="0" dirty="0" err="1">
                <a:solidFill>
                  <a:srgbClr val="0000FF"/>
                </a:solidFill>
                <a:effectLst/>
                <a:latin typeface="Times New Roman" panose="02020603050405020304" pitchFamily="18" charset="0"/>
              </a:rPr>
              <a:t>wp-content</a:t>
            </a:r>
            <a:r>
              <a:rPr lang="en-IN" sz="1800" b="0" i="0" dirty="0">
                <a:solidFill>
                  <a:srgbClr val="0000FF"/>
                </a:solidFill>
                <a:effectLst/>
                <a:latin typeface="Times New Roman" panose="02020603050405020304" pitchFamily="18" charset="0"/>
              </a:rPr>
              <a:t>/uploads/2020/09/Farm-to-Table-</a:t>
            </a:r>
            <a:endParaRPr lang="en-IN" sz="1800" dirty="0">
              <a:solidFill>
                <a:srgbClr val="0000FF"/>
              </a:solidFill>
              <a:effectLst/>
              <a:latin typeface="Times New Roman" panose="02020603050405020304" pitchFamily="18" charset="0"/>
            </a:endParaRPr>
          </a:p>
          <a:p>
            <a:r>
              <a:rPr lang="en-IN" sz="1800" b="0" i="0" dirty="0">
                <a:solidFill>
                  <a:srgbClr val="0000FF"/>
                </a:solidFill>
                <a:effectLst/>
                <a:latin typeface="Times New Roman" panose="02020603050405020304" pitchFamily="18" charset="0"/>
              </a:rPr>
              <a:t>NTR631_FinalReport_March-2020.pdf</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[3] S. G. Yogesh and D. S. Ravindran, “Profitability through Organic Sales,” </a:t>
            </a:r>
            <a:r>
              <a:rPr lang="en-IN" sz="1500" b="0" i="1" dirty="0">
                <a:solidFill>
                  <a:schemeClr val="bg1"/>
                </a:solidFill>
                <a:effectLst/>
                <a:latin typeface="TimesNewRomanPS-ItalicMT"/>
              </a:rPr>
              <a:t>Agronomy</a:t>
            </a:r>
            <a:r>
              <a:rPr lang="en-IN" sz="1500" b="0" i="0" dirty="0">
                <a:solidFill>
                  <a:schemeClr val="bg1"/>
                </a:solidFill>
                <a:effectLst/>
                <a:latin typeface="Times New Roman" panose="02020603050405020304" pitchFamily="18" charset="0"/>
              </a:rPr>
              <a:t>, vol. 13,</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no. 5, 2023. [Online]. Available: </a:t>
            </a:r>
            <a:r>
              <a:rPr lang="en-IN" sz="1500" b="0" i="0" dirty="0">
                <a:solidFill>
                  <a:schemeClr val="bg1"/>
                </a:solidFill>
                <a:effectLst/>
                <a:latin typeface="Times New Roman" panose="02020603050405020304" pitchFamily="18" charset="0"/>
                <a:hlinkClick r:id="rId4"/>
              </a:rPr>
              <a:t>https://</a:t>
            </a:r>
            <a:r>
              <a:rPr lang="en-IN" sz="1500" b="0" i="0" dirty="0" err="1">
                <a:solidFill>
                  <a:schemeClr val="bg1"/>
                </a:solidFill>
                <a:effectLst/>
                <a:latin typeface="Times New Roman" panose="02020603050405020304" pitchFamily="18" charset="0"/>
                <a:hlinkClick r:id="rId4"/>
              </a:rPr>
              <a:t>www.mdpi.com</a:t>
            </a:r>
            <a:r>
              <a:rPr lang="en-IN" sz="1500" b="0" i="0" dirty="0">
                <a:solidFill>
                  <a:schemeClr val="bg1"/>
                </a:solidFill>
                <a:effectLst/>
                <a:latin typeface="Times New Roman" panose="02020603050405020304" pitchFamily="18" charset="0"/>
                <a:hlinkClick r:id="rId4"/>
              </a:rPr>
              <a:t>/2073-4395/13/5/1200</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[4] S. Sultana, B. Barman, R. Singh, and P. K. </a:t>
            </a:r>
            <a:r>
              <a:rPr lang="en-IN" sz="1500" b="0" i="0" dirty="0" err="1">
                <a:solidFill>
                  <a:schemeClr val="bg1"/>
                </a:solidFill>
                <a:effectLst/>
                <a:latin typeface="Times New Roman" panose="02020603050405020304" pitchFamily="18" charset="0"/>
              </a:rPr>
              <a:t>Velayudhan</a:t>
            </a:r>
            <a:r>
              <a:rPr lang="en-IN" sz="1500" b="0" i="0" dirty="0">
                <a:solidFill>
                  <a:schemeClr val="bg1"/>
                </a:solidFill>
                <a:effectLst/>
                <a:latin typeface="Times New Roman" panose="02020603050405020304" pitchFamily="18" charset="0"/>
              </a:rPr>
              <a:t>, “Organic Farming Research</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Landscape,” </a:t>
            </a:r>
            <a:r>
              <a:rPr lang="en-IN" sz="1500" b="0" i="1" dirty="0">
                <a:solidFill>
                  <a:schemeClr val="bg1"/>
                </a:solidFill>
                <a:effectLst/>
                <a:latin typeface="TimesNewRomanPS-ItalicMT"/>
              </a:rPr>
              <a:t>Discover Agriculture</a:t>
            </a:r>
            <a:r>
              <a:rPr lang="en-IN" sz="1500" b="0" i="0" dirty="0">
                <a:solidFill>
                  <a:schemeClr val="bg1"/>
                </a:solidFill>
                <a:effectLst/>
                <a:latin typeface="Times New Roman" panose="02020603050405020304" pitchFamily="18" charset="0"/>
              </a:rPr>
              <a:t>, Springer Nature, vol. 2, 2025. [Online]. Available:</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hlinkClick r:id="rId5"/>
              </a:rPr>
              <a:t>https://link.springer.com/article/10.1007/s43621-025-01306-6</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[5] G. </a:t>
            </a:r>
            <a:r>
              <a:rPr lang="en-IN" sz="1500" b="0" i="0" dirty="0" err="1">
                <a:solidFill>
                  <a:schemeClr val="bg1"/>
                </a:solidFill>
                <a:effectLst/>
                <a:latin typeface="Times New Roman" panose="02020603050405020304" pitchFamily="18" charset="0"/>
              </a:rPr>
              <a:t>Biau</a:t>
            </a:r>
            <a:r>
              <a:rPr lang="en-IN" sz="1500" b="0" i="0" dirty="0">
                <a:solidFill>
                  <a:schemeClr val="bg1"/>
                </a:solidFill>
                <a:effectLst/>
                <a:latin typeface="Times New Roman" panose="02020603050405020304" pitchFamily="18" charset="0"/>
              </a:rPr>
              <a:t>, “Analysis of a Random Forests Model,” </a:t>
            </a:r>
            <a:r>
              <a:rPr lang="en-IN" sz="1500" b="0" i="1" dirty="0">
                <a:solidFill>
                  <a:schemeClr val="bg1"/>
                </a:solidFill>
                <a:effectLst/>
                <a:latin typeface="TimesNewRomanPS-ItalicMT"/>
              </a:rPr>
              <a:t>Journal of Machine Learning Research</a:t>
            </a:r>
            <a:r>
              <a:rPr lang="en-IN" sz="1500" b="0" i="0" dirty="0">
                <a:solidFill>
                  <a:schemeClr val="bg1"/>
                </a:solidFill>
                <a:effectLst/>
                <a:latin typeface="Times New Roman" panose="02020603050405020304" pitchFamily="18" charset="0"/>
              </a:rPr>
              <a:t>,</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vol. 13, pp. 1063–1095, 2012. [Online]. Available:</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hlinkClick r:id="rId6"/>
              </a:rPr>
              <a:t>https://</a:t>
            </a:r>
            <a:r>
              <a:rPr lang="en-IN" sz="1500" b="0" i="0" dirty="0" err="1">
                <a:solidFill>
                  <a:schemeClr val="bg1"/>
                </a:solidFill>
                <a:effectLst/>
                <a:latin typeface="Times New Roman" panose="02020603050405020304" pitchFamily="18" charset="0"/>
                <a:hlinkClick r:id="rId6"/>
              </a:rPr>
              <a:t>www.jmlr.org</a:t>
            </a:r>
            <a:r>
              <a:rPr lang="en-IN" sz="1500" b="0" i="0" dirty="0">
                <a:solidFill>
                  <a:schemeClr val="bg1"/>
                </a:solidFill>
                <a:effectLst/>
                <a:latin typeface="Times New Roman" panose="02020603050405020304" pitchFamily="18" charset="0"/>
                <a:hlinkClick r:id="rId6"/>
              </a:rPr>
              <a:t>/papers/v13/</a:t>
            </a:r>
            <a:r>
              <a:rPr lang="en-IN" sz="1500" b="0" i="0" dirty="0" err="1">
                <a:solidFill>
                  <a:schemeClr val="bg1"/>
                </a:solidFill>
                <a:effectLst/>
                <a:latin typeface="Times New Roman" panose="02020603050405020304" pitchFamily="18" charset="0"/>
                <a:hlinkClick r:id="rId6"/>
              </a:rPr>
              <a:t>biau12a.html</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[6] S. </a:t>
            </a:r>
            <a:r>
              <a:rPr lang="en-IN" sz="1500" b="0" i="0" dirty="0" err="1">
                <a:solidFill>
                  <a:schemeClr val="bg1"/>
                </a:solidFill>
                <a:effectLst/>
                <a:latin typeface="Times New Roman" panose="02020603050405020304" pitchFamily="18" charset="0"/>
              </a:rPr>
              <a:t>Pudumalar</a:t>
            </a:r>
            <a:r>
              <a:rPr lang="en-IN" sz="1500" b="0" i="0" dirty="0">
                <a:solidFill>
                  <a:schemeClr val="bg1"/>
                </a:solidFill>
                <a:effectLst/>
                <a:latin typeface="Times New Roman" panose="02020603050405020304" pitchFamily="18" charset="0"/>
              </a:rPr>
              <a:t>, E. Ramanujam, R. H. Rajashree, C. Kavya, T. </a:t>
            </a:r>
            <a:r>
              <a:rPr lang="en-IN" sz="1500" b="0" i="0" dirty="0" err="1">
                <a:solidFill>
                  <a:schemeClr val="bg1"/>
                </a:solidFill>
                <a:effectLst/>
                <a:latin typeface="Times New Roman" panose="02020603050405020304" pitchFamily="18" charset="0"/>
              </a:rPr>
              <a:t>Kiruthika</a:t>
            </a:r>
            <a:r>
              <a:rPr lang="en-IN" sz="1500" b="0" i="0" dirty="0">
                <a:solidFill>
                  <a:schemeClr val="bg1"/>
                </a:solidFill>
                <a:effectLst/>
                <a:latin typeface="Times New Roman" panose="02020603050405020304" pitchFamily="18" charset="0"/>
              </a:rPr>
              <a:t>, and J. Nisha, “Crop</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recommendation system for precision agriculture,” in </a:t>
            </a:r>
            <a:r>
              <a:rPr lang="en-IN" sz="1500" b="0" i="1" dirty="0">
                <a:solidFill>
                  <a:schemeClr val="bg1"/>
                </a:solidFill>
                <a:effectLst/>
                <a:latin typeface="TimesNewRomanPS-ItalicMT"/>
              </a:rPr>
              <a:t>Proc. 8th Int. </a:t>
            </a:r>
            <a:r>
              <a:rPr lang="en-IN" sz="1500" b="0" i="1" dirty="0" err="1">
                <a:solidFill>
                  <a:schemeClr val="bg1"/>
                </a:solidFill>
                <a:effectLst/>
                <a:latin typeface="TimesNewRomanPS-ItalicMT"/>
              </a:rPr>
              <a:t>Conf</a:t>
            </a:r>
            <a:r>
              <a:rPr lang="en-IN" sz="1500" b="0" i="1" dirty="0">
                <a:solidFill>
                  <a:schemeClr val="bg1"/>
                </a:solidFill>
                <a:effectLst/>
                <a:latin typeface="TimesNewRomanPS-ItalicMT"/>
              </a:rPr>
              <a:t>. on Advanced Computing</a:t>
            </a:r>
            <a:endParaRPr lang="en-IN" sz="1500" dirty="0">
              <a:solidFill>
                <a:schemeClr val="bg1"/>
              </a:solidFill>
              <a:effectLst/>
              <a:latin typeface="Times New Roman" panose="02020603050405020304" pitchFamily="18" charset="0"/>
            </a:endParaRPr>
          </a:p>
          <a:p>
            <a:pPr marL="0" marR="0">
              <a:buNone/>
            </a:pPr>
            <a:r>
              <a:rPr lang="en-IN" sz="1500" b="0" i="1" dirty="0">
                <a:solidFill>
                  <a:schemeClr val="bg1"/>
                </a:solidFill>
                <a:effectLst/>
                <a:latin typeface="TimesNewRomanPS-ItalicMT"/>
              </a:rPr>
              <a:t>(ICoAC)</a:t>
            </a:r>
            <a:r>
              <a:rPr lang="en-IN" sz="1500" b="0" i="0" dirty="0">
                <a:solidFill>
                  <a:schemeClr val="bg1"/>
                </a:solidFill>
                <a:effectLst/>
                <a:latin typeface="Times New Roman" panose="02020603050405020304" pitchFamily="18" charset="0"/>
              </a:rPr>
              <a:t>, Chennai, India, 2017, pp. 32–36, </a:t>
            </a:r>
            <a:r>
              <a:rPr lang="en-IN" sz="1500" b="0" i="0" dirty="0" err="1">
                <a:solidFill>
                  <a:schemeClr val="bg1"/>
                </a:solidFill>
                <a:effectLst/>
                <a:latin typeface="Times New Roman" panose="02020603050405020304" pitchFamily="18" charset="0"/>
              </a:rPr>
              <a:t>doi</a:t>
            </a:r>
            <a:r>
              <a:rPr lang="en-IN" sz="1500" b="0" i="0" dirty="0">
                <a:solidFill>
                  <a:schemeClr val="bg1"/>
                </a:solidFill>
                <a:effectLst/>
                <a:latin typeface="Times New Roman" panose="02020603050405020304" pitchFamily="18" charset="0"/>
              </a:rPr>
              <a:t>: 10.1109/ICoAC.2017.7951740.</a:t>
            </a:r>
            <a:endParaRPr lang="en-IN" sz="1500" dirty="0">
              <a:solidFill>
                <a:schemeClr val="bg1"/>
              </a:solidFill>
              <a:effectLst/>
              <a:latin typeface="Times New Roman" panose="02020603050405020304" pitchFamily="18" charset="0"/>
            </a:endParaRPr>
          </a:p>
          <a:p>
            <a:pPr marL="0" marR="0">
              <a:buNone/>
            </a:pPr>
            <a:r>
              <a:rPr lang="en-IN" sz="1500" b="0" i="0" dirty="0">
                <a:solidFill>
                  <a:schemeClr val="bg1"/>
                </a:solidFill>
                <a:effectLst/>
                <a:latin typeface="Times New Roman" panose="02020603050405020304" pitchFamily="18" charset="0"/>
              </a:rPr>
              <a:t>[Online]. Available: </a:t>
            </a:r>
            <a:r>
              <a:rPr lang="en-IN" sz="1500" b="0" i="0" dirty="0">
                <a:solidFill>
                  <a:schemeClr val="bg1"/>
                </a:solidFill>
                <a:effectLst/>
                <a:latin typeface="Times New Roman" panose="02020603050405020304" pitchFamily="18" charset="0"/>
                <a:hlinkClick r:id="rId7"/>
              </a:rPr>
              <a:t>https://</a:t>
            </a:r>
            <a:r>
              <a:rPr lang="en-IN" sz="1500" b="0" i="0" dirty="0" err="1">
                <a:solidFill>
                  <a:schemeClr val="bg1"/>
                </a:solidFill>
                <a:effectLst/>
                <a:latin typeface="Times New Roman" panose="02020603050405020304" pitchFamily="18" charset="0"/>
                <a:hlinkClick r:id="rId7"/>
              </a:rPr>
              <a:t>ieeexplore.ieee.org</a:t>
            </a:r>
            <a:r>
              <a:rPr lang="en-IN" sz="1500" b="0" i="0" dirty="0">
                <a:solidFill>
                  <a:schemeClr val="bg1"/>
                </a:solidFill>
                <a:effectLst/>
                <a:latin typeface="Times New Roman" panose="02020603050405020304" pitchFamily="18" charset="0"/>
                <a:hlinkClick r:id="rId7"/>
              </a:rPr>
              <a:t>/document/7951740</a:t>
            </a:r>
            <a:endParaRPr lang="en-IN" sz="1500" dirty="0">
              <a:solidFill>
                <a:schemeClr val="bg1"/>
              </a:solidFill>
              <a:effectLst/>
              <a:latin typeface="Times New Roman" panose="02020603050405020304" pitchFamily="18" charset="0"/>
            </a:endParaRPr>
          </a:p>
        </p:txBody>
      </p:sp>
    </p:spTree>
    <p:extLst>
      <p:ext uri="{BB962C8B-B14F-4D97-AF65-F5344CB8AC3E}">
        <p14:creationId xmlns:p14="http://schemas.microsoft.com/office/powerpoint/2010/main" val="622579545"/>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E2DB8-C7CD-C976-E348-7A4C115D26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50" y="0"/>
            <a:ext cx="12248950" cy="6858000"/>
          </a:xfrm>
          <a:prstGeom prst="rect">
            <a:avLst/>
          </a:prstGeom>
        </p:spPr>
      </p:pic>
      <p:sp>
        <p:nvSpPr>
          <p:cNvPr id="8" name="Rectangle: Rounded Corners 7">
            <a:extLst>
              <a:ext uri="{FF2B5EF4-FFF2-40B4-BE49-F238E27FC236}">
                <a16:creationId xmlns:a16="http://schemas.microsoft.com/office/drawing/2014/main" id="{05B53A71-1CD5-EC47-E845-F66B7D407DA5}"/>
              </a:ext>
            </a:extLst>
          </p:cNvPr>
          <p:cNvSpPr/>
          <p:nvPr/>
        </p:nvSpPr>
        <p:spPr>
          <a:xfrm>
            <a:off x="561163" y="354419"/>
            <a:ext cx="10994967" cy="5755424"/>
          </a:xfrm>
          <a:prstGeom prst="round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29D4D9E-DD33-7A2A-5713-7291F21FED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7257" y="1694078"/>
            <a:ext cx="5657485" cy="3087494"/>
          </a:xfrm>
          <a:prstGeom prst="rect">
            <a:avLst/>
          </a:prstGeom>
          <a:ln>
            <a:noFill/>
          </a:ln>
          <a:effectLst>
            <a:softEdge rad="112500"/>
          </a:effectLst>
        </p:spPr>
      </p:pic>
      <p:sp>
        <p:nvSpPr>
          <p:cNvPr id="2" name="TextBox 1">
            <a:extLst>
              <a:ext uri="{FF2B5EF4-FFF2-40B4-BE49-F238E27FC236}">
                <a16:creationId xmlns:a16="http://schemas.microsoft.com/office/drawing/2014/main" id="{32B36E5E-83B6-C535-551F-E3D66AE7E2AC}"/>
              </a:ext>
            </a:extLst>
          </p:cNvPr>
          <p:cNvSpPr txBox="1"/>
          <p:nvPr/>
        </p:nvSpPr>
        <p:spPr>
          <a:xfrm>
            <a:off x="1431234" y="970327"/>
            <a:ext cx="4664766" cy="415498"/>
          </a:xfrm>
          <a:prstGeom prst="rect">
            <a:avLst/>
          </a:prstGeom>
          <a:noFill/>
        </p:spPr>
        <p:txBody>
          <a:bodyPr wrap="square" rtlCol="0">
            <a:spAutoFit/>
          </a:bodyPr>
          <a:lstStyle/>
          <a:p>
            <a:pPr algn="l"/>
            <a:r>
              <a:rPr lang="en-IN" sz="2100" dirty="0">
                <a:solidFill>
                  <a:schemeClr val="bg1"/>
                </a:solidFill>
                <a:latin typeface="Forte Forward" pitchFamily="2" charset="77"/>
                <a:cs typeface="Forte Forward" pitchFamily="2" charset="77"/>
              </a:rPr>
              <a:t>Let us make this true</a:t>
            </a:r>
            <a:endParaRPr lang="en-US" sz="2100" dirty="0">
              <a:solidFill>
                <a:schemeClr val="bg1"/>
              </a:solidFill>
              <a:latin typeface="Forte Forward" pitchFamily="2" charset="77"/>
              <a:cs typeface="Forte Forward" pitchFamily="2" charset="77"/>
            </a:endParaRPr>
          </a:p>
        </p:txBody>
      </p:sp>
      <p:sp>
        <p:nvSpPr>
          <p:cNvPr id="4" name="TextBox 3">
            <a:extLst>
              <a:ext uri="{FF2B5EF4-FFF2-40B4-BE49-F238E27FC236}">
                <a16:creationId xmlns:a16="http://schemas.microsoft.com/office/drawing/2014/main" id="{990EDD64-FCE0-9935-D5DC-E9EB347BA27D}"/>
              </a:ext>
            </a:extLst>
          </p:cNvPr>
          <p:cNvSpPr txBox="1"/>
          <p:nvPr/>
        </p:nvSpPr>
        <p:spPr>
          <a:xfrm>
            <a:off x="4182575" y="4860932"/>
            <a:ext cx="3826848" cy="1169551"/>
          </a:xfrm>
          <a:prstGeom prst="rect">
            <a:avLst/>
          </a:prstGeom>
          <a:noFill/>
        </p:spPr>
        <p:txBody>
          <a:bodyPr wrap="square" rtlCol="0">
            <a:spAutoFit/>
          </a:bodyPr>
          <a:lstStyle/>
          <a:p>
            <a:pPr algn="l"/>
            <a:r>
              <a:rPr lang="en-IN" sz="3500" dirty="0" err="1">
                <a:solidFill>
                  <a:schemeClr val="bg1"/>
                </a:solidFill>
                <a:latin typeface="High Tower Text" panose="02040502050506030303" pitchFamily="18" charset="77"/>
                <a:cs typeface="Hadassah Friedlaender" panose="02020603050405020304" pitchFamily="18" charset="-79"/>
              </a:rPr>
              <a:t>Rythu</a:t>
            </a:r>
            <a:r>
              <a:rPr lang="en-IN" sz="3500" dirty="0">
                <a:solidFill>
                  <a:schemeClr val="bg1"/>
                </a:solidFill>
                <a:latin typeface="High Tower Text" panose="02040502050506030303" pitchFamily="18" charset="77"/>
                <a:cs typeface="Hadassah Friedlaender" panose="02020603050405020304" pitchFamily="18" charset="-79"/>
              </a:rPr>
              <a:t> </a:t>
            </a:r>
            <a:r>
              <a:rPr lang="en-IN" sz="3500" dirty="0" err="1">
                <a:solidFill>
                  <a:schemeClr val="bg1"/>
                </a:solidFill>
                <a:latin typeface="High Tower Text" panose="02040502050506030303" pitchFamily="18" charset="77"/>
                <a:cs typeface="Hadassah Friedlaender" panose="02020603050405020304" pitchFamily="18" charset="-79"/>
              </a:rPr>
              <a:t>Devo</a:t>
            </a:r>
            <a:r>
              <a:rPr lang="en-IN" sz="3500" dirty="0">
                <a:solidFill>
                  <a:schemeClr val="bg1"/>
                </a:solidFill>
                <a:latin typeface="High Tower Text" panose="02040502050506030303" pitchFamily="18" charset="77"/>
                <a:cs typeface="Hadassah Friedlaender" panose="02020603050405020304" pitchFamily="18" charset="-79"/>
              </a:rPr>
              <a:t> </a:t>
            </a:r>
            <a:r>
              <a:rPr lang="en-IN" sz="3500" dirty="0" err="1">
                <a:solidFill>
                  <a:schemeClr val="bg1"/>
                </a:solidFill>
                <a:latin typeface="High Tower Text" panose="02040502050506030303" pitchFamily="18" charset="77"/>
                <a:cs typeface="Hadassah Friedlaender" panose="02020603050405020304" pitchFamily="18" charset="-79"/>
              </a:rPr>
              <a:t>Bhava</a:t>
            </a:r>
            <a:endParaRPr lang="en-IN" sz="3500" dirty="0">
              <a:solidFill>
                <a:schemeClr val="bg1"/>
              </a:solidFill>
              <a:latin typeface="High Tower Text" panose="02040502050506030303" pitchFamily="18" charset="77"/>
              <a:cs typeface="Hadassah Friedlaender" panose="02020603050405020304" pitchFamily="18" charset="-79"/>
            </a:endParaRPr>
          </a:p>
          <a:p>
            <a:pPr algn="l"/>
            <a:endParaRPr lang="en-US" sz="3500" dirty="0">
              <a:solidFill>
                <a:schemeClr val="bg1"/>
              </a:solidFill>
              <a:latin typeface="Forte Forward" pitchFamily="2" charset="77"/>
              <a:cs typeface="Forte Forward" pitchFamily="2" charset="77"/>
            </a:endParaRPr>
          </a:p>
        </p:txBody>
      </p:sp>
      <p:sp>
        <p:nvSpPr>
          <p:cNvPr id="5" name="Oval 4">
            <a:extLst>
              <a:ext uri="{FF2B5EF4-FFF2-40B4-BE49-F238E27FC236}">
                <a16:creationId xmlns:a16="http://schemas.microsoft.com/office/drawing/2014/main" id="{C139DBB8-06A1-D30A-C639-21C70D63EA82}"/>
              </a:ext>
            </a:extLst>
          </p:cNvPr>
          <p:cNvSpPr/>
          <p:nvPr/>
        </p:nvSpPr>
        <p:spPr>
          <a:xfrm>
            <a:off x="104554" y="224937"/>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Oval 9">
            <a:extLst>
              <a:ext uri="{FF2B5EF4-FFF2-40B4-BE49-F238E27FC236}">
                <a16:creationId xmlns:a16="http://schemas.microsoft.com/office/drawing/2014/main" id="{C58B82F4-F97A-B57F-6C19-5895F8035EBF}"/>
              </a:ext>
            </a:extLst>
          </p:cNvPr>
          <p:cNvSpPr/>
          <p:nvPr/>
        </p:nvSpPr>
        <p:spPr>
          <a:xfrm>
            <a:off x="11327825" y="594104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19F20B8-8D48-7B23-D768-CF3C78B2C275}"/>
              </a:ext>
            </a:extLst>
          </p:cNvPr>
          <p:cNvSpPr/>
          <p:nvPr/>
        </p:nvSpPr>
        <p:spPr>
          <a:xfrm>
            <a:off x="10809554" y="6239325"/>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Oval 13">
            <a:extLst>
              <a:ext uri="{FF2B5EF4-FFF2-40B4-BE49-F238E27FC236}">
                <a16:creationId xmlns:a16="http://schemas.microsoft.com/office/drawing/2014/main" id="{AAB86DB0-5E8E-8AD6-DE02-212862D799AB}"/>
              </a:ext>
            </a:extLst>
          </p:cNvPr>
          <p:cNvSpPr/>
          <p:nvPr/>
        </p:nvSpPr>
        <p:spPr>
          <a:xfrm>
            <a:off x="11666310" y="5417822"/>
            <a:ext cx="456609" cy="523220"/>
          </a:xfrm>
          <a:prstGeom prst="ellipse">
            <a:avLst/>
          </a:prstGeom>
          <a:solidFill>
            <a:srgbClr val="0761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22062030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2"/>
          <a:stretch>
            <a:fillRect l="-1000" r="-1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3CD4A0-A1A9-CE99-7985-72A41C9D11DE}"/>
              </a:ext>
            </a:extLst>
          </p:cNvPr>
          <p:cNvSpPr txBox="1"/>
          <p:nvPr/>
        </p:nvSpPr>
        <p:spPr>
          <a:xfrm>
            <a:off x="1924625" y="2766108"/>
            <a:ext cx="6817453" cy="64633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600" dirty="0">
                <a:solidFill>
                  <a:schemeClr val="bg1"/>
                </a:solidFill>
                <a:latin typeface="Algerian" pitchFamily="82" charset="77"/>
                <a:cs typeface="Times New Roman" panose="02020603050405020304" pitchFamily="18" charset="0"/>
              </a:rPr>
              <a:t>Thank You</a:t>
            </a:r>
          </a:p>
        </p:txBody>
      </p:sp>
      <p:sp>
        <p:nvSpPr>
          <p:cNvPr id="7" name="TextBox 6">
            <a:extLst>
              <a:ext uri="{FF2B5EF4-FFF2-40B4-BE49-F238E27FC236}">
                <a16:creationId xmlns:a16="http://schemas.microsoft.com/office/drawing/2014/main" id="{3ACFAB35-BFA3-62DD-4FE3-193DDAE8F79C}"/>
              </a:ext>
            </a:extLst>
          </p:cNvPr>
          <p:cNvSpPr txBox="1"/>
          <p:nvPr/>
        </p:nvSpPr>
        <p:spPr>
          <a:xfrm>
            <a:off x="4604614" y="3089274"/>
            <a:ext cx="4373743" cy="707886"/>
          </a:xfrm>
          <a:prstGeom prst="rect">
            <a:avLst/>
          </a:prstGeom>
          <a:noFill/>
        </p:spPr>
        <p:txBody>
          <a:bodyPr wrap="square" rtlCol="0">
            <a:spAutoFit/>
          </a:bodyPr>
          <a:lstStyle/>
          <a:p>
            <a:r>
              <a:rPr lang="en-US" sz="4000" dirty="0">
                <a:solidFill>
                  <a:schemeClr val="bg1"/>
                </a:solidFill>
                <a:latin typeface="Algerian" pitchFamily="82" charset="77"/>
                <a:cs typeface="Times New Roman" panose="02020603050405020304" pitchFamily="18" charset="0"/>
              </a:rPr>
              <a:t>Any Queries ?</a:t>
            </a:r>
            <a:endParaRPr lang="en-IN" sz="4000" dirty="0">
              <a:solidFill>
                <a:schemeClr val="bg1"/>
              </a:solidFill>
              <a:latin typeface="Algerian" pitchFamily="82" charset="77"/>
              <a:cs typeface="Times New Roman" panose="02020603050405020304" pitchFamily="18" charset="0"/>
            </a:endParaRPr>
          </a:p>
        </p:txBody>
      </p:sp>
    </p:spTree>
    <p:extLst>
      <p:ext uri="{BB962C8B-B14F-4D97-AF65-F5344CB8AC3E}">
        <p14:creationId xmlns:p14="http://schemas.microsoft.com/office/powerpoint/2010/main" val="524273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additive="base">
                                        <p:cTn id="14" dur="500"/>
                                        <p:tgtEl>
                                          <p:spTgt spid="7"/>
                                        </p:tgtEl>
                                        <p:attrNameLst>
                                          <p:attrName>ppt_y</p:attrName>
                                        </p:attrNameLst>
                                      </p:cBhvr>
                                      <p:tavLst>
                                        <p:tav tm="0">
                                          <p:val>
                                            <p:strVal val="#ppt_y+#ppt_h*1.125000"/>
                                          </p:val>
                                        </p:tav>
                                        <p:tav tm="100000">
                                          <p:val>
                                            <p:strVal val="#ppt_y"/>
                                          </p:val>
                                        </p:tav>
                                      </p:tavLst>
                                    </p:anim>
                                    <p:animEffect transition="in" filter="wipe(up)">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8014555"/>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241</TotalTime>
  <Words>1579</Words>
  <Application>Microsoft Office PowerPoint</Application>
  <PresentationFormat>Widescreen</PresentationFormat>
  <Paragraphs>173</Paragraphs>
  <Slides>29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Algerian</vt:lpstr>
      <vt:lpstr>Arial</vt:lpstr>
      <vt:lpstr>Calibri</vt:lpstr>
      <vt:lpstr>Forte Forward</vt:lpstr>
      <vt:lpstr>Google Sans Text</vt:lpstr>
      <vt:lpstr>High Tower Text</vt:lpstr>
      <vt:lpstr>Times New Roman</vt:lpstr>
      <vt:lpstr>TimesNewRomanPS-ItalicMT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farm2Hom</dc:title>
  <dc:creator>MVSR</dc:creator>
  <cp:lastModifiedBy>charankonda7781@gmail.com</cp:lastModifiedBy>
  <cp:revision>81</cp:revision>
  <dcterms:created xsi:type="dcterms:W3CDTF">2026-02-21T04:29:22Z</dcterms:created>
  <dcterms:modified xsi:type="dcterms:W3CDTF">2026-06-24T05:48:28Z</dcterms:modified>
</cp:coreProperties>
</file>